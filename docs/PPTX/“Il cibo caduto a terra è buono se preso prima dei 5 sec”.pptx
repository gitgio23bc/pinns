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Halant Medium" charset="1" panose="00000600000000000000"/>
      <p:regular r:id="rId27"/>
    </p:embeddedFont>
    <p:embeddedFont>
      <p:font typeface="HK Grotesk Bold" charset="1" panose="00000800000000000000"/>
      <p:regular r:id="rId28"/>
    </p:embeddedFont>
    <p:embeddedFont>
      <p:font typeface="Assistant" charset="1" panose="00000500000000000000"/>
      <p:regular r:id="rId29"/>
    </p:embeddedFont>
    <p:embeddedFont>
      <p:font typeface="Open Sans" charset="1" panose="020B0606030504020204"/>
      <p:regular r:id="rId30"/>
    </p:embeddedFont>
    <p:embeddedFont>
      <p:font typeface="HK Grotesk" charset="1" panose="00000500000000000000"/>
      <p:regular r:id="rId31"/>
    </p:embeddedFont>
    <p:embeddedFont>
      <p:font typeface="Halant"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15.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93908" y="0"/>
            <a:ext cx="11440454" cy="5012999"/>
          </a:xfrm>
          <a:custGeom>
            <a:avLst/>
            <a:gdLst/>
            <a:ahLst/>
            <a:cxnLst/>
            <a:rect r="r" b="b" t="t" l="l"/>
            <a:pathLst>
              <a:path h="5012999" w="11440454">
                <a:moveTo>
                  <a:pt x="0" y="0"/>
                </a:moveTo>
                <a:lnTo>
                  <a:pt x="11440454" y="0"/>
                </a:lnTo>
                <a:lnTo>
                  <a:pt x="11440454" y="5012999"/>
                </a:lnTo>
                <a:lnTo>
                  <a:pt x="0" y="5012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685680">
            <a:off x="13253761" y="6895639"/>
            <a:ext cx="9150155" cy="8185229"/>
          </a:xfrm>
          <a:custGeom>
            <a:avLst/>
            <a:gdLst/>
            <a:ahLst/>
            <a:cxnLst/>
            <a:rect r="r" b="b" t="t" l="l"/>
            <a:pathLst>
              <a:path h="8185229" w="9150155">
                <a:moveTo>
                  <a:pt x="0" y="0"/>
                </a:moveTo>
                <a:lnTo>
                  <a:pt x="9150155" y="0"/>
                </a:lnTo>
                <a:lnTo>
                  <a:pt x="9150155" y="8185229"/>
                </a:lnTo>
                <a:lnTo>
                  <a:pt x="0" y="8185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8446864"/>
            <a:ext cx="7124398" cy="811436"/>
          </a:xfrm>
          <a:prstGeom prst="rect">
            <a:avLst/>
          </a:prstGeom>
        </p:spPr>
        <p:txBody>
          <a:bodyPr anchor="t" rtlCol="false" tIns="0" lIns="0" bIns="0" rIns="0">
            <a:spAutoFit/>
          </a:bodyPr>
          <a:lstStyle/>
          <a:p>
            <a:pPr algn="l">
              <a:lnSpc>
                <a:spcPts val="6720"/>
              </a:lnSpc>
              <a:spcBef>
                <a:spcPct val="0"/>
              </a:spcBef>
            </a:pPr>
            <a:r>
              <a:rPr lang="en-US" sz="4800" b="true">
                <a:solidFill>
                  <a:srgbClr val="1C53A3"/>
                </a:solidFill>
                <a:latin typeface="Halant Medium"/>
                <a:ea typeface="Halant Medium"/>
                <a:cs typeface="Halant Medium"/>
                <a:sym typeface="Halant Medium"/>
              </a:rPr>
              <a:t>Che cazzo de merda</a:t>
            </a:r>
          </a:p>
        </p:txBody>
      </p:sp>
      <p:sp>
        <p:nvSpPr>
          <p:cNvPr name="TextBox 5" id="5"/>
          <p:cNvSpPr txBox="true"/>
          <p:nvPr/>
        </p:nvSpPr>
        <p:spPr>
          <a:xfrm rot="0">
            <a:off x="1028700" y="3564324"/>
            <a:ext cx="10724012" cy="4405966"/>
          </a:xfrm>
          <a:prstGeom prst="rect">
            <a:avLst/>
          </a:prstGeom>
        </p:spPr>
        <p:txBody>
          <a:bodyPr anchor="t" rtlCol="false" tIns="0" lIns="0" bIns="0" rIns="0">
            <a:spAutoFit/>
          </a:bodyPr>
          <a:lstStyle/>
          <a:p>
            <a:pPr algn="l">
              <a:lnSpc>
                <a:spcPts val="11797"/>
              </a:lnSpc>
            </a:pPr>
            <a:r>
              <a:rPr lang="en-US" sz="9998" b="true">
                <a:solidFill>
                  <a:srgbClr val="000000"/>
                </a:solidFill>
                <a:latin typeface="HK Grotesk Bold"/>
                <a:ea typeface="HK Grotesk Bold"/>
                <a:cs typeface="HK Grotesk Bold"/>
                <a:sym typeface="HK Grotesk Bold"/>
              </a:rPr>
              <a:t>Soft Body Real-time simulation using PINNs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5977496">
            <a:off x="12173073" y="-1679059"/>
            <a:ext cx="11196923" cy="9283267"/>
          </a:xfrm>
          <a:custGeom>
            <a:avLst/>
            <a:gdLst/>
            <a:ahLst/>
            <a:cxnLst/>
            <a:rect r="r" b="b" t="t" l="l"/>
            <a:pathLst>
              <a:path h="9283267" w="11196923">
                <a:moveTo>
                  <a:pt x="0" y="0"/>
                </a:moveTo>
                <a:lnTo>
                  <a:pt x="11196922" y="0"/>
                </a:lnTo>
                <a:lnTo>
                  <a:pt x="11196922" y="9283267"/>
                </a:lnTo>
                <a:lnTo>
                  <a:pt x="0" y="9283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5418821"/>
            <a:ext cx="8934485" cy="3839479"/>
            <a:chOff x="0" y="0"/>
            <a:chExt cx="11912647" cy="5119306"/>
          </a:xfrm>
        </p:grpSpPr>
        <p:sp>
          <p:nvSpPr>
            <p:cNvPr name="TextBox 4" id="4"/>
            <p:cNvSpPr txBox="true"/>
            <p:nvPr/>
          </p:nvSpPr>
          <p:spPr>
            <a:xfrm rot="0">
              <a:off x="0" y="2311316"/>
              <a:ext cx="11912647" cy="1539141"/>
            </a:xfrm>
            <a:prstGeom prst="rect">
              <a:avLst/>
            </a:prstGeom>
          </p:spPr>
          <p:txBody>
            <a:bodyPr anchor="t" rtlCol="false" tIns="0" lIns="0" bIns="0" rIns="0">
              <a:spAutoFit/>
            </a:bodyPr>
            <a:lstStyle/>
            <a:p>
              <a:pPr algn="l">
                <a:lnSpc>
                  <a:spcPts val="9018"/>
                </a:lnSpc>
              </a:pPr>
              <a:r>
                <a:rPr lang="en-US" sz="7642" b="true">
                  <a:solidFill>
                    <a:srgbClr val="FFFFFF"/>
                  </a:solidFill>
                  <a:latin typeface="HK Grotesk Bold"/>
                  <a:ea typeface="HK Grotesk Bold"/>
                  <a:cs typeface="HK Grotesk Bold"/>
                  <a:sym typeface="HK Grotesk Bold"/>
                </a:rPr>
                <a:t>Teoria</a:t>
              </a:r>
            </a:p>
          </p:txBody>
        </p:sp>
        <p:sp>
          <p:nvSpPr>
            <p:cNvPr name="TextBox 5" id="5"/>
            <p:cNvSpPr txBox="true"/>
            <p:nvPr/>
          </p:nvSpPr>
          <p:spPr>
            <a:xfrm rot="0">
              <a:off x="0" y="39581"/>
              <a:ext cx="2514541" cy="1339175"/>
            </a:xfrm>
            <a:prstGeom prst="rect">
              <a:avLst/>
            </a:prstGeom>
          </p:spPr>
          <p:txBody>
            <a:bodyPr anchor="t" rtlCol="false" tIns="0" lIns="0" bIns="0" rIns="0">
              <a:spAutoFit/>
            </a:bodyPr>
            <a:lstStyle/>
            <a:p>
              <a:pPr algn="l" marL="0" indent="0" lvl="0">
                <a:lnSpc>
                  <a:spcPts val="7910"/>
                </a:lnSpc>
                <a:spcBef>
                  <a:spcPct val="0"/>
                </a:spcBef>
              </a:pPr>
              <a:r>
                <a:rPr lang="en-US" b="true" sz="6703" u="none">
                  <a:solidFill>
                    <a:srgbClr val="FFFFFF">
                      <a:alpha val="60000"/>
                    </a:srgbClr>
                  </a:solidFill>
                  <a:latin typeface="HK Grotesk Bold"/>
                  <a:ea typeface="HK Grotesk Bold"/>
                  <a:cs typeface="HK Grotesk Bold"/>
                  <a:sym typeface="HK Grotesk Bold"/>
                </a:rPr>
                <a:t>01</a:t>
              </a:r>
            </a:p>
          </p:txBody>
        </p:sp>
        <p:sp>
          <p:nvSpPr>
            <p:cNvPr name="TextBox 6" id="6"/>
            <p:cNvSpPr txBox="true"/>
            <p:nvPr/>
          </p:nvSpPr>
          <p:spPr>
            <a:xfrm rot="0">
              <a:off x="0" y="4626866"/>
              <a:ext cx="7538418" cy="492440"/>
            </a:xfrm>
            <a:prstGeom prst="rect">
              <a:avLst/>
            </a:prstGeom>
          </p:spPr>
          <p:txBody>
            <a:bodyPr anchor="t" rtlCol="false" tIns="0" lIns="0" bIns="0" rIns="0">
              <a:spAutoFit/>
            </a:bodyPr>
            <a:lstStyle/>
            <a:p>
              <a:pPr algn="l">
                <a:lnSpc>
                  <a:spcPts val="3136"/>
                </a:lnSpc>
                <a:spcBef>
                  <a:spcPct val="0"/>
                </a:spcBef>
              </a:pPr>
              <a:r>
                <a:rPr lang="en-US" sz="2240" spc="-22">
                  <a:solidFill>
                    <a:srgbClr val="FFFFFF"/>
                  </a:solidFill>
                  <a:latin typeface="Assistant"/>
                  <a:ea typeface="Assistant"/>
                  <a:cs typeface="Assistant"/>
                  <a:sym typeface="Assistant"/>
                </a:rPr>
                <a:t>Basi delle PINN e della soft body simulation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779964">
            <a:off x="-4380930" y="6314531"/>
            <a:ext cx="9213902" cy="5377568"/>
          </a:xfrm>
          <a:custGeom>
            <a:avLst/>
            <a:gdLst/>
            <a:ahLst/>
            <a:cxnLst/>
            <a:rect r="r" b="b" t="t" l="l"/>
            <a:pathLst>
              <a:path h="5377568" w="9213902">
                <a:moveTo>
                  <a:pt x="0" y="0"/>
                </a:moveTo>
                <a:lnTo>
                  <a:pt x="9213902" y="0"/>
                </a:lnTo>
                <a:lnTo>
                  <a:pt x="9213902" y="5377568"/>
                </a:lnTo>
                <a:lnTo>
                  <a:pt x="0" y="53775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384575">
            <a:off x="14522561" y="-3135874"/>
            <a:ext cx="3477318" cy="8462498"/>
          </a:xfrm>
          <a:custGeom>
            <a:avLst/>
            <a:gdLst/>
            <a:ahLst/>
            <a:cxnLst/>
            <a:rect r="r" b="b" t="t" l="l"/>
            <a:pathLst>
              <a:path h="8462498" w="3477318">
                <a:moveTo>
                  <a:pt x="0" y="0"/>
                </a:moveTo>
                <a:lnTo>
                  <a:pt x="3477318" y="0"/>
                </a:lnTo>
                <a:lnTo>
                  <a:pt x="3477318" y="8462498"/>
                </a:lnTo>
                <a:lnTo>
                  <a:pt x="0" y="84624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503610" y="1104900"/>
            <a:ext cx="11214373" cy="1661979"/>
          </a:xfrm>
          <a:prstGeom prst="rect">
            <a:avLst/>
          </a:prstGeom>
        </p:spPr>
        <p:txBody>
          <a:bodyPr anchor="t" rtlCol="false" tIns="0" lIns="0" bIns="0" rIns="0">
            <a:spAutoFit/>
          </a:bodyPr>
          <a:lstStyle/>
          <a:p>
            <a:pPr algn="l">
              <a:lnSpc>
                <a:spcPts val="6575"/>
              </a:lnSpc>
            </a:pPr>
            <a:r>
              <a:rPr lang="en-US" sz="5572" b="true">
                <a:solidFill>
                  <a:srgbClr val="000000"/>
                </a:solidFill>
                <a:latin typeface="HK Grotesk Bold"/>
                <a:ea typeface="HK Grotesk Bold"/>
                <a:cs typeface="HK Grotesk Bold"/>
                <a:sym typeface="HK Grotesk Bold"/>
              </a:rPr>
              <a:t>PINN per Tessuti Biologici a Contatto</a:t>
            </a:r>
          </a:p>
        </p:txBody>
      </p:sp>
      <p:grpSp>
        <p:nvGrpSpPr>
          <p:cNvPr name="Group 5" id="5"/>
          <p:cNvGrpSpPr/>
          <p:nvPr/>
        </p:nvGrpSpPr>
        <p:grpSpPr>
          <a:xfrm rot="0">
            <a:off x="2392141" y="3469484"/>
            <a:ext cx="4822358" cy="5495731"/>
            <a:chOff x="0" y="0"/>
            <a:chExt cx="6429810" cy="7327641"/>
          </a:xfrm>
        </p:grpSpPr>
        <p:sp>
          <p:nvSpPr>
            <p:cNvPr name="TextBox 6" id="6"/>
            <p:cNvSpPr txBox="true"/>
            <p:nvPr/>
          </p:nvSpPr>
          <p:spPr>
            <a:xfrm rot="0">
              <a:off x="0" y="-47625"/>
              <a:ext cx="6429810" cy="1853488"/>
            </a:xfrm>
            <a:prstGeom prst="rect">
              <a:avLst/>
            </a:prstGeom>
          </p:spPr>
          <p:txBody>
            <a:bodyPr anchor="t" rtlCol="false" tIns="0" lIns="0" bIns="0" rIns="0">
              <a:spAutoFit/>
            </a:bodyPr>
            <a:lstStyle/>
            <a:p>
              <a:pPr algn="l">
                <a:lnSpc>
                  <a:spcPts val="5582"/>
                </a:lnSpc>
              </a:pPr>
              <a:r>
                <a:rPr lang="en-US" sz="4294" b="true">
                  <a:solidFill>
                    <a:srgbClr val="1C53A3"/>
                  </a:solidFill>
                  <a:latin typeface="Halant Medium"/>
                  <a:ea typeface="Halant Medium"/>
                  <a:cs typeface="Halant Medium"/>
                  <a:sym typeface="Halant Medium"/>
                </a:rPr>
                <a:t>Il problema biomeccanico: </a:t>
              </a:r>
            </a:p>
          </p:txBody>
        </p:sp>
        <p:sp>
          <p:nvSpPr>
            <p:cNvPr name="TextBox 7" id="7"/>
            <p:cNvSpPr txBox="true"/>
            <p:nvPr/>
          </p:nvSpPr>
          <p:spPr>
            <a:xfrm rot="0">
              <a:off x="0" y="2211228"/>
              <a:ext cx="6429810" cy="5116413"/>
            </a:xfrm>
            <a:prstGeom prst="rect">
              <a:avLst/>
            </a:prstGeom>
          </p:spPr>
          <p:txBody>
            <a:bodyPr anchor="t" rtlCol="false" tIns="0" lIns="0" bIns="0" rIns="0">
              <a:spAutoFit/>
            </a:bodyPr>
            <a:lstStyle/>
            <a:p>
              <a:pPr algn="l">
                <a:lnSpc>
                  <a:spcPts val="3098"/>
                </a:lnSpc>
                <a:spcBef>
                  <a:spcPct val="0"/>
                </a:spcBef>
              </a:pPr>
              <a:r>
                <a:rPr lang="en-US" sz="2213" spc="-22">
                  <a:solidFill>
                    <a:srgbClr val="000000"/>
                  </a:solidFill>
                  <a:latin typeface="Assistant"/>
                  <a:ea typeface="Assistant"/>
                  <a:cs typeface="Assistant"/>
                  <a:sym typeface="Assistant"/>
                </a:rPr>
                <a:t>la difficoltà nel creare un modello che imita il </a:t>
              </a:r>
              <a:r>
                <a:rPr lang="en-US" sz="2213" spc="-22">
                  <a:solidFill>
                    <a:srgbClr val="000000"/>
                  </a:solidFill>
                  <a:latin typeface="Assistant"/>
                  <a:ea typeface="Assistant"/>
                  <a:cs typeface="Assistant"/>
                  <a:sym typeface="Assistant"/>
                </a:rPr>
                <a:t>comportamento di tessuti biologici consiste nel modellare numericamente le interazioni di contatto nei tessuti molli biologici, i quali presentano una spiccata non-linearità costitutiva e un comportamento viscoelastico, rendendo i tradizionali solutori a elementi finiti (FEM) eccessivamente costosi dal punto di vista computazionale.</a:t>
              </a:r>
            </a:p>
          </p:txBody>
        </p:sp>
      </p:grpSp>
      <p:grpSp>
        <p:nvGrpSpPr>
          <p:cNvPr name="Group 8" id="8"/>
          <p:cNvGrpSpPr/>
          <p:nvPr/>
        </p:nvGrpSpPr>
        <p:grpSpPr>
          <a:xfrm rot="0">
            <a:off x="7625279" y="3469484"/>
            <a:ext cx="4663115" cy="6268722"/>
            <a:chOff x="0" y="0"/>
            <a:chExt cx="6217487" cy="8358295"/>
          </a:xfrm>
        </p:grpSpPr>
        <p:sp>
          <p:nvSpPr>
            <p:cNvPr name="TextBox 9" id="9"/>
            <p:cNvSpPr txBox="true"/>
            <p:nvPr/>
          </p:nvSpPr>
          <p:spPr>
            <a:xfrm rot="0">
              <a:off x="0" y="-47625"/>
              <a:ext cx="6217487" cy="1853488"/>
            </a:xfrm>
            <a:prstGeom prst="rect">
              <a:avLst/>
            </a:prstGeom>
          </p:spPr>
          <p:txBody>
            <a:bodyPr anchor="t" rtlCol="false" tIns="0" lIns="0" bIns="0" rIns="0">
              <a:spAutoFit/>
            </a:bodyPr>
            <a:lstStyle/>
            <a:p>
              <a:pPr algn="l" marL="0" indent="0" lvl="0">
                <a:lnSpc>
                  <a:spcPts val="5582"/>
                </a:lnSpc>
                <a:spcBef>
                  <a:spcPct val="0"/>
                </a:spcBef>
              </a:pPr>
              <a:r>
                <a:rPr lang="en-US" b="true" sz="4294">
                  <a:solidFill>
                    <a:srgbClr val="1C53A3"/>
                  </a:solidFill>
                  <a:latin typeface="Halant Medium"/>
                  <a:ea typeface="Halant Medium"/>
                  <a:cs typeface="Halant Medium"/>
                  <a:sym typeface="Halant Medium"/>
                </a:rPr>
                <a:t>L</a:t>
              </a:r>
              <a:r>
                <a:rPr lang="en-US" b="true" sz="4294" u="none">
                  <a:solidFill>
                    <a:srgbClr val="1C53A3"/>
                  </a:solidFill>
                  <a:latin typeface="Halant Medium"/>
                  <a:ea typeface="Halant Medium"/>
                  <a:cs typeface="Halant Medium"/>
                  <a:sym typeface="Halant Medium"/>
                </a:rPr>
                <a:t>'implementazione PINN: </a:t>
              </a:r>
            </a:p>
          </p:txBody>
        </p:sp>
        <p:sp>
          <p:nvSpPr>
            <p:cNvPr name="TextBox 10" id="10"/>
            <p:cNvSpPr txBox="true"/>
            <p:nvPr/>
          </p:nvSpPr>
          <p:spPr>
            <a:xfrm rot="0">
              <a:off x="0" y="2211228"/>
              <a:ext cx="6090093" cy="6147067"/>
            </a:xfrm>
            <a:prstGeom prst="rect">
              <a:avLst/>
            </a:prstGeom>
          </p:spPr>
          <p:txBody>
            <a:bodyPr anchor="t" rtlCol="false" tIns="0" lIns="0" bIns="0" rIns="0">
              <a:spAutoFit/>
            </a:bodyPr>
            <a:lstStyle/>
            <a:p>
              <a:pPr algn="l">
                <a:lnSpc>
                  <a:spcPts val="3098"/>
                </a:lnSpc>
                <a:spcBef>
                  <a:spcPct val="0"/>
                </a:spcBef>
              </a:pPr>
              <a:r>
                <a:rPr lang="en-US" sz="2213" spc="-22">
                  <a:solidFill>
                    <a:srgbClr val="000000"/>
                  </a:solidFill>
                  <a:latin typeface="Assistant"/>
                  <a:ea typeface="Assistant"/>
                  <a:cs typeface="Assistant"/>
                  <a:sym typeface="Assistant"/>
                </a:rPr>
                <a:t>Per superare i limiti dei solutori classici, l'impostazione iniziale si affida alle Physics-Informed Neural Networks, le quali sono una modalità di allenamento delle reti neurali che si basa sulla minimizzazione di un residuo dovuto alla PDE costituente il problema e  sfruttando reti neurali profonde come approssimatori universali per mappare lo spazio delle coordinate direttamente verso i campi di spostamento e di stress. </a:t>
              </a:r>
            </a:p>
          </p:txBody>
        </p:sp>
      </p:grpSp>
      <p:grpSp>
        <p:nvGrpSpPr>
          <p:cNvPr name="Group 11" id="11"/>
          <p:cNvGrpSpPr/>
          <p:nvPr/>
        </p:nvGrpSpPr>
        <p:grpSpPr>
          <a:xfrm rot="0">
            <a:off x="12735773" y="3469484"/>
            <a:ext cx="4485131" cy="5495731"/>
            <a:chOff x="0" y="0"/>
            <a:chExt cx="5980175" cy="7327641"/>
          </a:xfrm>
        </p:grpSpPr>
        <p:sp>
          <p:nvSpPr>
            <p:cNvPr name="TextBox 12" id="12"/>
            <p:cNvSpPr txBox="true"/>
            <p:nvPr/>
          </p:nvSpPr>
          <p:spPr>
            <a:xfrm rot="0">
              <a:off x="0" y="-47625"/>
              <a:ext cx="5980175" cy="1853488"/>
            </a:xfrm>
            <a:prstGeom prst="rect">
              <a:avLst/>
            </a:prstGeom>
          </p:spPr>
          <p:txBody>
            <a:bodyPr anchor="t" rtlCol="false" tIns="0" lIns="0" bIns="0" rIns="0">
              <a:spAutoFit/>
            </a:bodyPr>
            <a:lstStyle/>
            <a:p>
              <a:pPr algn="l" marL="0" indent="0" lvl="0">
                <a:lnSpc>
                  <a:spcPts val="5582"/>
                </a:lnSpc>
                <a:spcBef>
                  <a:spcPct val="0"/>
                </a:spcBef>
              </a:pPr>
              <a:r>
                <a:rPr lang="en-US" b="true" sz="4294">
                  <a:solidFill>
                    <a:srgbClr val="1C53A3"/>
                  </a:solidFill>
                  <a:latin typeface="Halant Medium"/>
                  <a:ea typeface="Halant Medium"/>
                  <a:cs typeface="Halant Medium"/>
                  <a:sym typeface="Halant Medium"/>
                </a:rPr>
                <a:t>In</a:t>
              </a:r>
              <a:r>
                <a:rPr lang="en-US" b="true" sz="4294" u="none">
                  <a:solidFill>
                    <a:srgbClr val="1C53A3"/>
                  </a:solidFill>
                  <a:latin typeface="Halant Medium"/>
                  <a:ea typeface="Halant Medium"/>
                  <a:cs typeface="Halant Medium"/>
                  <a:sym typeface="Halant Medium"/>
                </a:rPr>
                <a:t>tegrazione della fisica: </a:t>
              </a:r>
            </a:p>
          </p:txBody>
        </p:sp>
        <p:sp>
          <p:nvSpPr>
            <p:cNvPr name="TextBox 13" id="13"/>
            <p:cNvSpPr txBox="true"/>
            <p:nvPr/>
          </p:nvSpPr>
          <p:spPr>
            <a:xfrm rot="0">
              <a:off x="0" y="2211228"/>
              <a:ext cx="5980175" cy="5116413"/>
            </a:xfrm>
            <a:prstGeom prst="rect">
              <a:avLst/>
            </a:prstGeom>
          </p:spPr>
          <p:txBody>
            <a:bodyPr anchor="t" rtlCol="false" tIns="0" lIns="0" bIns="0" rIns="0">
              <a:spAutoFit/>
            </a:bodyPr>
            <a:lstStyle/>
            <a:p>
              <a:pPr algn="l">
                <a:lnSpc>
                  <a:spcPts val="3098"/>
                </a:lnSpc>
                <a:spcBef>
                  <a:spcPct val="0"/>
                </a:spcBef>
              </a:pPr>
              <a:r>
                <a:rPr lang="en-US" sz="2213" spc="-22">
                  <a:solidFill>
                    <a:srgbClr val="000000"/>
                  </a:solidFill>
                  <a:latin typeface="Assistant"/>
                  <a:ea typeface="Assistant"/>
                  <a:cs typeface="Assistant"/>
                  <a:sym typeface="Assistant"/>
                </a:rPr>
                <a:t>Il sistema viene regolarizzato incorporando i vincoli delle equazioni differenziali non lineari direttamente nella funzione di loss, calcolando i gradienti tramite differenziazione automatica sui punti di collocazione interni al dominio, sebbene questo impianto mostri criticità nel gestire gradienti di deformazione fortemente localizzati durante il contatto.</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11190" y="7211779"/>
            <a:ext cx="8552141" cy="4571508"/>
          </a:xfrm>
          <a:custGeom>
            <a:avLst/>
            <a:gdLst/>
            <a:ahLst/>
            <a:cxnLst/>
            <a:rect r="r" b="b" t="t" l="l"/>
            <a:pathLst>
              <a:path h="4571508" w="8552141">
                <a:moveTo>
                  <a:pt x="0" y="0"/>
                </a:moveTo>
                <a:lnTo>
                  <a:pt x="8552141" y="0"/>
                </a:lnTo>
                <a:lnTo>
                  <a:pt x="8552141" y="4571508"/>
                </a:lnTo>
                <a:lnTo>
                  <a:pt x="0" y="4571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187291">
            <a:off x="-3947475" y="-1839794"/>
            <a:ext cx="9213902" cy="5377568"/>
          </a:xfrm>
          <a:custGeom>
            <a:avLst/>
            <a:gdLst/>
            <a:ahLst/>
            <a:cxnLst/>
            <a:rect r="r" b="b" t="t" l="l"/>
            <a:pathLst>
              <a:path h="5377568" w="9213902">
                <a:moveTo>
                  <a:pt x="0" y="0"/>
                </a:moveTo>
                <a:lnTo>
                  <a:pt x="9213902" y="0"/>
                </a:lnTo>
                <a:lnTo>
                  <a:pt x="9213902" y="5377568"/>
                </a:lnTo>
                <a:lnTo>
                  <a:pt x="0" y="5377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489138">
            <a:off x="15239504" y="-2170481"/>
            <a:ext cx="12048121" cy="14627962"/>
          </a:xfrm>
          <a:custGeom>
            <a:avLst/>
            <a:gdLst/>
            <a:ahLst/>
            <a:cxnLst/>
            <a:rect r="r" b="b" t="t" l="l"/>
            <a:pathLst>
              <a:path h="14627962" w="12048121">
                <a:moveTo>
                  <a:pt x="12048121" y="0"/>
                </a:moveTo>
                <a:lnTo>
                  <a:pt x="0" y="0"/>
                </a:lnTo>
                <a:lnTo>
                  <a:pt x="0" y="14627962"/>
                </a:lnTo>
                <a:lnTo>
                  <a:pt x="12048121" y="14627962"/>
                </a:lnTo>
                <a:lnTo>
                  <a:pt x="1204812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51114" y="1386787"/>
            <a:ext cx="9348985" cy="1235968"/>
          </a:xfrm>
          <a:custGeom>
            <a:avLst/>
            <a:gdLst/>
            <a:ahLst/>
            <a:cxnLst/>
            <a:rect r="r" b="b" t="t" l="l"/>
            <a:pathLst>
              <a:path h="1235968" w="9348985">
                <a:moveTo>
                  <a:pt x="0" y="0"/>
                </a:moveTo>
                <a:lnTo>
                  <a:pt x="9348985" y="0"/>
                </a:lnTo>
                <a:lnTo>
                  <a:pt x="9348985" y="1235968"/>
                </a:lnTo>
                <a:lnTo>
                  <a:pt x="0" y="1235968"/>
                </a:lnTo>
                <a:lnTo>
                  <a:pt x="0" y="0"/>
                </a:lnTo>
                <a:close/>
              </a:path>
            </a:pathLst>
          </a:custGeom>
          <a:blipFill>
            <a:blip r:embed="rId8"/>
            <a:stretch>
              <a:fillRect l="-10908" t="-776643" r="-139047" b="-85111"/>
            </a:stretch>
          </a:blipFill>
        </p:spPr>
      </p:sp>
      <p:sp>
        <p:nvSpPr>
          <p:cNvPr name="Freeform 6" id="6"/>
          <p:cNvSpPr/>
          <p:nvPr/>
        </p:nvSpPr>
        <p:spPr>
          <a:xfrm flipH="false" flipV="false" rot="0">
            <a:off x="5851114" y="3184730"/>
            <a:ext cx="9932068" cy="919059"/>
          </a:xfrm>
          <a:custGeom>
            <a:avLst/>
            <a:gdLst/>
            <a:ahLst/>
            <a:cxnLst/>
            <a:rect r="r" b="b" t="t" l="l"/>
            <a:pathLst>
              <a:path h="919059" w="9932068">
                <a:moveTo>
                  <a:pt x="0" y="0"/>
                </a:moveTo>
                <a:lnTo>
                  <a:pt x="9932068" y="0"/>
                </a:lnTo>
                <a:lnTo>
                  <a:pt x="9932068" y="919059"/>
                </a:lnTo>
                <a:lnTo>
                  <a:pt x="0" y="919059"/>
                </a:lnTo>
                <a:lnTo>
                  <a:pt x="0" y="0"/>
                </a:lnTo>
                <a:close/>
              </a:path>
            </a:pathLst>
          </a:custGeom>
          <a:blipFill>
            <a:blip r:embed="rId9"/>
            <a:stretch>
              <a:fillRect l="-7333" t="-775066" r="-54321" b="-605820"/>
            </a:stretch>
          </a:blipFill>
        </p:spPr>
      </p:sp>
      <p:sp>
        <p:nvSpPr>
          <p:cNvPr name="TextBox 7" id="7"/>
          <p:cNvSpPr txBox="true"/>
          <p:nvPr/>
        </p:nvSpPr>
        <p:spPr>
          <a:xfrm rot="0">
            <a:off x="599025" y="3080037"/>
            <a:ext cx="4546554" cy="3863934"/>
          </a:xfrm>
          <a:prstGeom prst="rect">
            <a:avLst/>
          </a:prstGeom>
        </p:spPr>
        <p:txBody>
          <a:bodyPr anchor="t" rtlCol="false" tIns="0" lIns="0" bIns="0" rIns="0">
            <a:spAutoFit/>
          </a:bodyPr>
          <a:lstStyle/>
          <a:p>
            <a:pPr algn="l">
              <a:lnSpc>
                <a:spcPts val="5126"/>
              </a:lnSpc>
            </a:pPr>
            <a:r>
              <a:rPr lang="en-US" sz="4344" b="true">
                <a:solidFill>
                  <a:srgbClr val="1C53A3"/>
                </a:solidFill>
                <a:latin typeface="HK Grotesk Bold"/>
                <a:ea typeface="HK Grotesk Bold"/>
                <a:cs typeface="HK Grotesk Bold"/>
                <a:sym typeface="HK Grotesk Bold"/>
              </a:rPr>
              <a:t>Modello Nonlineare viscoelastico di  Holzapfel per tessuti molli biologici</a:t>
            </a:r>
          </a:p>
        </p:txBody>
      </p:sp>
      <p:sp>
        <p:nvSpPr>
          <p:cNvPr name="TextBox 8" id="8"/>
          <p:cNvSpPr txBox="true"/>
          <p:nvPr/>
        </p:nvSpPr>
        <p:spPr>
          <a:xfrm rot="0">
            <a:off x="5339145" y="5114925"/>
            <a:ext cx="9297759" cy="3118931"/>
          </a:xfrm>
          <a:prstGeom prst="rect">
            <a:avLst/>
          </a:prstGeom>
        </p:spPr>
        <p:txBody>
          <a:bodyPr anchor="t" rtlCol="false" tIns="0" lIns="0" bIns="0" rIns="0">
            <a:spAutoFit/>
          </a:bodyPr>
          <a:lstStyle/>
          <a:p>
            <a:pPr algn="l">
              <a:lnSpc>
                <a:spcPts val="4141"/>
              </a:lnSpc>
              <a:spcBef>
                <a:spcPct val="0"/>
              </a:spcBef>
            </a:pPr>
            <a:r>
              <a:rPr lang="en-US" sz="3185">
                <a:solidFill>
                  <a:srgbClr val="000000"/>
                </a:solidFill>
                <a:latin typeface="Open Sans"/>
                <a:ea typeface="Open Sans"/>
                <a:cs typeface="Open Sans"/>
                <a:sym typeface="Open Sans"/>
              </a:rPr>
              <a:t>Energia di Deformazione di Holzapfel Partendo dal modello tridimensionale composito (1), che isola il contributo della matrice isotropa da quello delle fibre di collagene anisotrope, si definisce la formulazione dell'energia potenziale ridotta in 2D per il tessuto in esame (2). </a:t>
            </a:r>
          </a:p>
        </p:txBody>
      </p:sp>
      <p:sp>
        <p:nvSpPr>
          <p:cNvPr name="TextBox 9" id="9"/>
          <p:cNvSpPr txBox="true"/>
          <p:nvPr/>
        </p:nvSpPr>
        <p:spPr>
          <a:xfrm rot="0">
            <a:off x="5339145" y="1520502"/>
            <a:ext cx="502444" cy="2380615"/>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(1)</a:t>
            </a:r>
          </a:p>
          <a:p>
            <a:pPr algn="ctr">
              <a:lnSpc>
                <a:spcPts val="4759"/>
              </a:lnSpc>
            </a:pPr>
          </a:p>
          <a:p>
            <a:pPr algn="ctr">
              <a:lnSpc>
                <a:spcPts val="4759"/>
              </a:lnSpc>
            </a:pPr>
          </a:p>
          <a:p>
            <a:pPr algn="ctr">
              <a:lnSpc>
                <a:spcPts val="4759"/>
              </a:lnSpc>
            </a:pPr>
            <a:r>
              <a:rPr lang="en-US" sz="3399">
                <a:solidFill>
                  <a:srgbClr val="000000"/>
                </a:solidFill>
                <a:latin typeface="Open Sans"/>
                <a:ea typeface="Open Sans"/>
                <a:cs typeface="Open Sans"/>
                <a:sym typeface="Open Sans"/>
              </a:rPr>
              <a:t>(2)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453959" y="5143500"/>
            <a:ext cx="8973244" cy="6281271"/>
          </a:xfrm>
          <a:custGeom>
            <a:avLst/>
            <a:gdLst/>
            <a:ahLst/>
            <a:cxnLst/>
            <a:rect r="r" b="b" t="t" l="l"/>
            <a:pathLst>
              <a:path h="6281271" w="8973244">
                <a:moveTo>
                  <a:pt x="0" y="0"/>
                </a:moveTo>
                <a:lnTo>
                  <a:pt x="8973244" y="0"/>
                </a:lnTo>
                <a:lnTo>
                  <a:pt x="8973244" y="6281271"/>
                </a:lnTo>
                <a:lnTo>
                  <a:pt x="0" y="628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36340" y="1028700"/>
            <a:ext cx="1851660" cy="4114800"/>
          </a:xfrm>
          <a:custGeom>
            <a:avLst/>
            <a:gdLst/>
            <a:ahLst/>
            <a:cxnLst/>
            <a:rect r="r" b="b" t="t" l="l"/>
            <a:pathLst>
              <a:path h="4114800" w="1851660">
                <a:moveTo>
                  <a:pt x="0" y="0"/>
                </a:moveTo>
                <a:lnTo>
                  <a:pt x="1851660" y="0"/>
                </a:lnTo>
                <a:lnTo>
                  <a:pt x="185166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748153" y="5342794"/>
            <a:ext cx="7198602" cy="4602607"/>
          </a:xfrm>
          <a:prstGeom prst="rect">
            <a:avLst/>
          </a:prstGeom>
        </p:spPr>
        <p:txBody>
          <a:bodyPr anchor="t" rtlCol="false" tIns="0" lIns="0" bIns="0" rIns="0">
            <a:spAutoFit/>
          </a:bodyPr>
          <a:lstStyle/>
          <a:p>
            <a:pPr algn="l">
              <a:lnSpc>
                <a:spcPts val="4087"/>
              </a:lnSpc>
            </a:pPr>
            <a:r>
              <a:rPr lang="en-US" sz="2919">
                <a:solidFill>
                  <a:srgbClr val="000000"/>
                </a:solidFill>
                <a:latin typeface="Open Sans"/>
                <a:ea typeface="Open Sans"/>
                <a:cs typeface="Open Sans"/>
                <a:sym typeface="Open Sans"/>
              </a:rPr>
              <a:t> </a:t>
            </a:r>
          </a:p>
          <a:p>
            <a:pPr algn="l">
              <a:lnSpc>
                <a:spcPts val="4087"/>
              </a:lnSpc>
            </a:pPr>
            <a:r>
              <a:rPr lang="en-US" sz="2919">
                <a:solidFill>
                  <a:srgbClr val="000000"/>
                </a:solidFill>
                <a:latin typeface="Open Sans"/>
                <a:ea typeface="Open Sans"/>
                <a:cs typeface="Open Sans"/>
                <a:sym typeface="Open Sans"/>
              </a:rPr>
              <a:t>Vincoli di Equilibrio e Loss PINN</a:t>
            </a:r>
          </a:p>
          <a:p>
            <a:pPr algn="l">
              <a:lnSpc>
                <a:spcPts val="4087"/>
              </a:lnSpc>
            </a:pPr>
            <a:r>
              <a:rPr lang="en-US" sz="2919">
                <a:solidFill>
                  <a:srgbClr val="000000"/>
                </a:solidFill>
                <a:latin typeface="Open Sans"/>
                <a:ea typeface="Open Sans"/>
                <a:cs typeface="Open Sans"/>
                <a:sym typeface="Open Sans"/>
              </a:rPr>
              <a:t>L'equazione di conservazione della quantità di moto e le relative condizioni di interfaccia vengono incorporate nel calcolo del residuo fisico (Loss MSE) per vincolare le previsioni della Physics-Informed Neural Network.</a:t>
            </a:r>
          </a:p>
          <a:p>
            <a:pPr algn="l">
              <a:lnSpc>
                <a:spcPts val="4087"/>
              </a:lnSpc>
            </a:pPr>
          </a:p>
        </p:txBody>
      </p:sp>
      <p:sp>
        <p:nvSpPr>
          <p:cNvPr name="Freeform 5" id="5"/>
          <p:cNvSpPr/>
          <p:nvPr/>
        </p:nvSpPr>
        <p:spPr>
          <a:xfrm flipH="false" flipV="false" rot="0">
            <a:off x="736305" y="1772979"/>
            <a:ext cx="9011848" cy="2204028"/>
          </a:xfrm>
          <a:custGeom>
            <a:avLst/>
            <a:gdLst/>
            <a:ahLst/>
            <a:cxnLst/>
            <a:rect r="r" b="b" t="t" l="l"/>
            <a:pathLst>
              <a:path h="2204028" w="9011848">
                <a:moveTo>
                  <a:pt x="0" y="0"/>
                </a:moveTo>
                <a:lnTo>
                  <a:pt x="9011848" y="0"/>
                </a:lnTo>
                <a:lnTo>
                  <a:pt x="9011848" y="2204028"/>
                </a:lnTo>
                <a:lnTo>
                  <a:pt x="0" y="2204028"/>
                </a:lnTo>
                <a:lnTo>
                  <a:pt x="0" y="0"/>
                </a:lnTo>
                <a:close/>
              </a:path>
            </a:pathLst>
          </a:custGeom>
          <a:blipFill>
            <a:blip r:embed="rId6"/>
            <a:stretch>
              <a:fillRect l="-157815" t="-223013" r="-49381" b="-315922"/>
            </a:stretch>
          </a:blipFill>
        </p:spPr>
      </p:sp>
      <p:pic>
        <p:nvPicPr>
          <p:cNvPr name="Picture 6" id="6"/>
          <p:cNvPicPr>
            <a:picLocks noChangeAspect="true"/>
          </p:cNvPicPr>
          <p:nvPr/>
        </p:nvPicPr>
        <p:blipFill>
          <a:blip r:embed="rId7"/>
          <a:stretch>
            <a:fillRect/>
          </a:stretch>
        </p:blipFill>
        <p:spPr>
          <a:xfrm rot="0">
            <a:off x="5552247" y="6260831"/>
            <a:ext cx="3918276" cy="1048832"/>
          </a:xfrm>
          <a:prstGeom prst="rect">
            <a:avLst/>
          </a:prstGeom>
        </p:spPr>
      </p:pic>
      <p:pic>
        <p:nvPicPr>
          <p:cNvPr name="Picture 7" id="7"/>
          <p:cNvPicPr>
            <a:picLocks noChangeAspect="true"/>
          </p:cNvPicPr>
          <p:nvPr/>
        </p:nvPicPr>
        <p:blipFill>
          <a:blip r:embed="rId8"/>
          <a:stretch>
            <a:fillRect/>
          </a:stretch>
        </p:blipFill>
        <p:spPr>
          <a:xfrm rot="0">
            <a:off x="5568830" y="7085663"/>
            <a:ext cx="3450875" cy="1169047"/>
          </a:xfrm>
          <a:prstGeom prst="rect">
            <a:avLst/>
          </a:prstGeom>
        </p:spPr>
      </p:pic>
      <p:sp>
        <p:nvSpPr>
          <p:cNvPr name="TextBox 8" id="8"/>
          <p:cNvSpPr txBox="true"/>
          <p:nvPr/>
        </p:nvSpPr>
        <p:spPr>
          <a:xfrm rot="0">
            <a:off x="9748153" y="787929"/>
            <a:ext cx="6100188" cy="4602490"/>
          </a:xfrm>
          <a:prstGeom prst="rect">
            <a:avLst/>
          </a:prstGeom>
        </p:spPr>
        <p:txBody>
          <a:bodyPr anchor="t" rtlCol="false" tIns="0" lIns="0" bIns="0" rIns="0">
            <a:spAutoFit/>
          </a:bodyPr>
          <a:lstStyle/>
          <a:p>
            <a:pPr algn="l">
              <a:lnSpc>
                <a:spcPts val="4094"/>
              </a:lnSpc>
              <a:spcBef>
                <a:spcPct val="0"/>
              </a:spcBef>
            </a:pPr>
            <a:r>
              <a:rPr lang="en-US" sz="2924">
                <a:solidFill>
                  <a:srgbClr val="000000"/>
                </a:solidFill>
                <a:latin typeface="Open Sans"/>
                <a:ea typeface="Open Sans"/>
                <a:cs typeface="Open Sans"/>
                <a:sym typeface="Open Sans"/>
              </a:rPr>
              <a:t>Legge di Evoluzione Viscoelastica La cinetica del tessuto è governata da un sistema di equazioni differenziali che determina i tassi di deformazione principali bilanciando i carichi applicati con le derivate dell'energia interna rispetto alla deformazione di Green.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0">
            <a:off x="8067999" y="-3285152"/>
            <a:ext cx="13876757" cy="12413390"/>
          </a:xfrm>
          <a:custGeom>
            <a:avLst/>
            <a:gdLst/>
            <a:ahLst/>
            <a:cxnLst/>
            <a:rect r="r" b="b" t="t" l="l"/>
            <a:pathLst>
              <a:path h="12413390" w="13876757">
                <a:moveTo>
                  <a:pt x="0" y="0"/>
                </a:moveTo>
                <a:lnTo>
                  <a:pt x="13876757" y="0"/>
                </a:lnTo>
                <a:lnTo>
                  <a:pt x="13876757" y="12413390"/>
                </a:lnTo>
                <a:lnTo>
                  <a:pt x="0" y="12413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155007"/>
            <a:ext cx="9448165" cy="2103293"/>
          </a:xfrm>
          <a:prstGeom prst="rect">
            <a:avLst/>
          </a:prstGeom>
        </p:spPr>
        <p:txBody>
          <a:bodyPr anchor="t" rtlCol="false" tIns="0" lIns="0" bIns="0" rIns="0">
            <a:spAutoFit/>
          </a:bodyPr>
          <a:lstStyle/>
          <a:p>
            <a:pPr algn="l">
              <a:lnSpc>
                <a:spcPts val="8322"/>
              </a:lnSpc>
            </a:pPr>
            <a:r>
              <a:rPr lang="en-US" sz="7053" b="true">
                <a:solidFill>
                  <a:srgbClr val="FFFFFF"/>
                </a:solidFill>
                <a:latin typeface="HK Grotesk Bold"/>
                <a:ea typeface="HK Grotesk Bold"/>
                <a:cs typeface="HK Grotesk Bold"/>
                <a:sym typeface="HK Grotesk Bold"/>
              </a:rPr>
              <a:t>Pipeline e Schema del codice</a:t>
            </a:r>
          </a:p>
        </p:txBody>
      </p:sp>
      <p:sp>
        <p:nvSpPr>
          <p:cNvPr name="TextBox 4" id="4"/>
          <p:cNvSpPr txBox="true"/>
          <p:nvPr/>
        </p:nvSpPr>
        <p:spPr>
          <a:xfrm rot="0">
            <a:off x="1028700" y="5812548"/>
            <a:ext cx="7278782" cy="629666"/>
          </a:xfrm>
          <a:prstGeom prst="rect">
            <a:avLst/>
          </a:prstGeom>
        </p:spPr>
        <p:txBody>
          <a:bodyPr anchor="t" rtlCol="false" tIns="0" lIns="0" bIns="0" rIns="0">
            <a:spAutoFit/>
          </a:bodyPr>
          <a:lstStyle/>
          <a:p>
            <a:pPr algn="l" marL="0" indent="0" lvl="0">
              <a:lnSpc>
                <a:spcPts val="5292"/>
              </a:lnSpc>
              <a:spcBef>
                <a:spcPct val="0"/>
              </a:spcBef>
            </a:pPr>
            <a:r>
              <a:rPr lang="en-US" b="true" sz="3780">
                <a:solidFill>
                  <a:srgbClr val="FFFFFF"/>
                </a:solidFill>
                <a:latin typeface="Halant Medium"/>
                <a:ea typeface="Halant Medium"/>
                <a:cs typeface="Halant Medium"/>
                <a:sym typeface="Halant Medium"/>
              </a:rPr>
              <a:t>...</a:t>
            </a:r>
          </a:p>
        </p:txBody>
      </p:sp>
      <p:sp>
        <p:nvSpPr>
          <p:cNvPr name="TextBox 5" id="5"/>
          <p:cNvSpPr txBox="true"/>
          <p:nvPr/>
        </p:nvSpPr>
        <p:spPr>
          <a:xfrm rot="0">
            <a:off x="1028700" y="1038225"/>
            <a:ext cx="1483795" cy="1007628"/>
          </a:xfrm>
          <a:prstGeom prst="rect">
            <a:avLst/>
          </a:prstGeom>
        </p:spPr>
        <p:txBody>
          <a:bodyPr anchor="t" rtlCol="false" tIns="0" lIns="0" bIns="0" rIns="0">
            <a:spAutoFit/>
          </a:bodyPr>
          <a:lstStyle/>
          <a:p>
            <a:pPr algn="l" marL="0" indent="0" lvl="0">
              <a:lnSpc>
                <a:spcPts val="7910"/>
              </a:lnSpc>
              <a:spcBef>
                <a:spcPct val="0"/>
              </a:spcBef>
            </a:pPr>
            <a:r>
              <a:rPr lang="en-US" b="true" sz="6703">
                <a:solidFill>
                  <a:srgbClr val="FFFFFF">
                    <a:alpha val="60000"/>
                  </a:srgbClr>
                </a:solidFill>
                <a:latin typeface="HK Grotesk Bold"/>
                <a:ea typeface="HK Grotesk Bold"/>
                <a:cs typeface="HK Grotesk Bold"/>
                <a:sym typeface="HK Grotesk Bold"/>
              </a:rPr>
              <a:t>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188922" cy="10287000"/>
          </a:xfrm>
          <a:custGeom>
            <a:avLst/>
            <a:gdLst/>
            <a:ahLst/>
            <a:cxnLst/>
            <a:rect r="r" b="b" t="t" l="l"/>
            <a:pathLst>
              <a:path h="10287000" w="8188922">
                <a:moveTo>
                  <a:pt x="0" y="0"/>
                </a:moveTo>
                <a:lnTo>
                  <a:pt x="8188922" y="0"/>
                </a:lnTo>
                <a:lnTo>
                  <a:pt x="8188922" y="10287000"/>
                </a:lnTo>
                <a:lnTo>
                  <a:pt x="0" y="10287000"/>
                </a:lnTo>
                <a:lnTo>
                  <a:pt x="0" y="0"/>
                </a:lnTo>
                <a:close/>
              </a:path>
            </a:pathLst>
          </a:custGeom>
          <a:blipFill>
            <a:blip r:embed="rId2"/>
            <a:stretch>
              <a:fillRect l="-45893" t="0" r="-42655" b="0"/>
            </a:stretch>
          </a:blipFill>
        </p:spPr>
      </p:sp>
      <p:sp>
        <p:nvSpPr>
          <p:cNvPr name="TextBox 3" id="3"/>
          <p:cNvSpPr txBox="true"/>
          <p:nvPr/>
        </p:nvSpPr>
        <p:spPr>
          <a:xfrm rot="0">
            <a:off x="9144000" y="8859373"/>
            <a:ext cx="8115300" cy="398927"/>
          </a:xfrm>
          <a:prstGeom prst="rect">
            <a:avLst/>
          </a:prstGeom>
        </p:spPr>
        <p:txBody>
          <a:bodyPr anchor="t" rtlCol="false" tIns="0" lIns="0" bIns="0" rIns="0">
            <a:spAutoFit/>
          </a:bodyPr>
          <a:lstStyle/>
          <a:p>
            <a:pPr algn="l">
              <a:lnSpc>
                <a:spcPts val="3230"/>
              </a:lnSpc>
              <a:spcBef>
                <a:spcPct val="0"/>
              </a:spcBef>
            </a:pPr>
            <a:r>
              <a:rPr lang="en-US" sz="2307" spc="-23">
                <a:solidFill>
                  <a:srgbClr val="000000"/>
                </a:solidFill>
                <a:latin typeface="Assistant"/>
                <a:ea typeface="Assistant"/>
                <a:cs typeface="Assistant"/>
                <a:sym typeface="Assistant"/>
              </a:rPr>
              <a:t>slide con pipeline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99078" y="0"/>
            <a:ext cx="8188922" cy="10287000"/>
          </a:xfrm>
          <a:custGeom>
            <a:avLst/>
            <a:gdLst/>
            <a:ahLst/>
            <a:cxnLst/>
            <a:rect r="r" b="b" t="t" l="l"/>
            <a:pathLst>
              <a:path h="10287000" w="8188922">
                <a:moveTo>
                  <a:pt x="0" y="0"/>
                </a:moveTo>
                <a:lnTo>
                  <a:pt x="8188922" y="0"/>
                </a:lnTo>
                <a:lnTo>
                  <a:pt x="8188922" y="10287000"/>
                </a:lnTo>
                <a:lnTo>
                  <a:pt x="0" y="10287000"/>
                </a:lnTo>
                <a:lnTo>
                  <a:pt x="0" y="0"/>
                </a:lnTo>
                <a:close/>
              </a:path>
            </a:pathLst>
          </a:custGeom>
          <a:blipFill>
            <a:blip r:embed="rId2"/>
            <a:stretch>
              <a:fillRect l="-40551" t="0" r="-47998" b="0"/>
            </a:stretch>
          </a:blipFill>
        </p:spPr>
      </p:sp>
      <p:sp>
        <p:nvSpPr>
          <p:cNvPr name="Freeform 3" id="3"/>
          <p:cNvSpPr/>
          <p:nvPr/>
        </p:nvSpPr>
        <p:spPr>
          <a:xfrm flipH="false" flipV="false" rot="-103919">
            <a:off x="3957595" y="-2272588"/>
            <a:ext cx="10372809" cy="4545176"/>
          </a:xfrm>
          <a:custGeom>
            <a:avLst/>
            <a:gdLst/>
            <a:ahLst/>
            <a:cxnLst/>
            <a:rect r="r" b="b" t="t" l="l"/>
            <a:pathLst>
              <a:path h="4545176" w="10372809">
                <a:moveTo>
                  <a:pt x="0" y="0"/>
                </a:moveTo>
                <a:lnTo>
                  <a:pt x="10372810" y="0"/>
                </a:lnTo>
                <a:lnTo>
                  <a:pt x="10372810" y="4545176"/>
                </a:lnTo>
                <a:lnTo>
                  <a:pt x="0" y="45451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8906153"/>
            <a:ext cx="6019800" cy="352147"/>
          </a:xfrm>
          <a:prstGeom prst="rect">
            <a:avLst/>
          </a:prstGeom>
        </p:spPr>
        <p:txBody>
          <a:bodyPr anchor="t" rtlCol="false" tIns="0" lIns="0" bIns="0" rIns="0">
            <a:spAutoFit/>
          </a:bodyPr>
          <a:lstStyle/>
          <a:p>
            <a:pPr algn="l">
              <a:lnSpc>
                <a:spcPts val="2856"/>
              </a:lnSpc>
            </a:pPr>
            <a:r>
              <a:rPr lang="en-US" sz="2040" spc="-20">
                <a:solidFill>
                  <a:srgbClr val="1C53A3"/>
                </a:solidFill>
                <a:latin typeface="Assistant"/>
                <a:ea typeface="Assistant"/>
                <a:cs typeface="Assistant"/>
                <a:sym typeface="Assistant"/>
              </a:rPr>
              <a:t>slide con schema del codice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true" flipV="true" rot="0">
            <a:off x="-5303038" y="-3806354"/>
            <a:ext cx="13501499" cy="13650413"/>
          </a:xfrm>
          <a:custGeom>
            <a:avLst/>
            <a:gdLst/>
            <a:ahLst/>
            <a:cxnLst/>
            <a:rect r="r" b="b" t="t" l="l"/>
            <a:pathLst>
              <a:path h="13650413" w="13501499">
                <a:moveTo>
                  <a:pt x="13501499" y="13650413"/>
                </a:moveTo>
                <a:lnTo>
                  <a:pt x="0" y="13650413"/>
                </a:lnTo>
                <a:lnTo>
                  <a:pt x="0" y="0"/>
                </a:lnTo>
                <a:lnTo>
                  <a:pt x="13501499" y="0"/>
                </a:lnTo>
                <a:lnTo>
                  <a:pt x="13501499" y="1365041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39340" y="7774218"/>
            <a:ext cx="7029485" cy="1154356"/>
          </a:xfrm>
          <a:prstGeom prst="rect">
            <a:avLst/>
          </a:prstGeom>
        </p:spPr>
        <p:txBody>
          <a:bodyPr anchor="t" rtlCol="false" tIns="0" lIns="0" bIns="0" rIns="0">
            <a:spAutoFit/>
          </a:bodyPr>
          <a:lstStyle/>
          <a:p>
            <a:pPr algn="r">
              <a:lnSpc>
                <a:spcPts val="9018"/>
              </a:lnSpc>
            </a:pPr>
            <a:r>
              <a:rPr lang="en-US" sz="7642" b="true">
                <a:solidFill>
                  <a:srgbClr val="FFFFFF"/>
                </a:solidFill>
                <a:latin typeface="HK Grotesk Bold"/>
                <a:ea typeface="HK Grotesk Bold"/>
                <a:cs typeface="HK Grotesk Bold"/>
                <a:sym typeface="HK Grotesk Bold"/>
              </a:rPr>
              <a:t>Risultati PINN</a:t>
            </a:r>
          </a:p>
        </p:txBody>
      </p:sp>
      <p:sp>
        <p:nvSpPr>
          <p:cNvPr name="TextBox 4" id="4"/>
          <p:cNvSpPr txBox="true"/>
          <p:nvPr/>
        </p:nvSpPr>
        <p:spPr>
          <a:xfrm rot="0">
            <a:off x="15785030" y="1038225"/>
            <a:ext cx="1483795" cy="1002000"/>
          </a:xfrm>
          <a:prstGeom prst="rect">
            <a:avLst/>
          </a:prstGeom>
        </p:spPr>
        <p:txBody>
          <a:bodyPr anchor="t" rtlCol="false" tIns="0" lIns="0" bIns="0" rIns="0">
            <a:spAutoFit/>
          </a:bodyPr>
          <a:lstStyle/>
          <a:p>
            <a:pPr algn="r" marL="0" indent="0" lvl="0">
              <a:lnSpc>
                <a:spcPts val="7910"/>
              </a:lnSpc>
              <a:spcBef>
                <a:spcPct val="0"/>
              </a:spcBef>
            </a:pPr>
            <a:r>
              <a:rPr lang="en-US" b="true" sz="6703">
                <a:solidFill>
                  <a:srgbClr val="FFFFFF">
                    <a:alpha val="60000"/>
                  </a:srgbClr>
                </a:solidFill>
                <a:latin typeface="HK Grotesk Bold"/>
                <a:ea typeface="HK Grotesk Bold"/>
                <a:cs typeface="HK Grotesk Bold"/>
                <a:sym typeface="HK Grotesk Bold"/>
              </a:rPr>
              <a:t>03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95545" y="6336348"/>
            <a:ext cx="7011035" cy="4907724"/>
          </a:xfrm>
          <a:custGeom>
            <a:avLst/>
            <a:gdLst/>
            <a:ahLst/>
            <a:cxnLst/>
            <a:rect r="r" b="b" t="t" l="l"/>
            <a:pathLst>
              <a:path h="4907724" w="7011035">
                <a:moveTo>
                  <a:pt x="0" y="0"/>
                </a:moveTo>
                <a:lnTo>
                  <a:pt x="7011034" y="0"/>
                </a:lnTo>
                <a:lnTo>
                  <a:pt x="7011034" y="4907725"/>
                </a:lnTo>
                <a:lnTo>
                  <a:pt x="0" y="4907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42142" y="0"/>
            <a:ext cx="1851660" cy="4114800"/>
          </a:xfrm>
          <a:custGeom>
            <a:avLst/>
            <a:gdLst/>
            <a:ahLst/>
            <a:cxnLst/>
            <a:rect r="r" b="b" t="t" l="l"/>
            <a:pathLst>
              <a:path h="4114800" w="1851660">
                <a:moveTo>
                  <a:pt x="0" y="0"/>
                </a:moveTo>
                <a:lnTo>
                  <a:pt x="1851660" y="0"/>
                </a:lnTo>
                <a:lnTo>
                  <a:pt x="185166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64707" y="962025"/>
            <a:ext cx="5758160"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slide con grafici risultati pinn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65862">
            <a:off x="-1426330" y="-542841"/>
            <a:ext cx="9605104" cy="4313565"/>
          </a:xfrm>
          <a:custGeom>
            <a:avLst/>
            <a:gdLst/>
            <a:ahLst/>
            <a:cxnLst/>
            <a:rect r="r" b="b" t="t" l="l"/>
            <a:pathLst>
              <a:path h="4313565" w="9605104">
                <a:moveTo>
                  <a:pt x="0" y="0"/>
                </a:moveTo>
                <a:lnTo>
                  <a:pt x="9605105" y="0"/>
                </a:lnTo>
                <a:lnTo>
                  <a:pt x="9605105" y="4313565"/>
                </a:lnTo>
                <a:lnTo>
                  <a:pt x="0" y="431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61058" y="2443467"/>
            <a:ext cx="10726942" cy="1056311"/>
          </a:xfrm>
          <a:prstGeom prst="rect">
            <a:avLst/>
          </a:prstGeom>
        </p:spPr>
        <p:txBody>
          <a:bodyPr anchor="t" rtlCol="false" tIns="0" lIns="0" bIns="0" rIns="0">
            <a:spAutoFit/>
          </a:bodyPr>
          <a:lstStyle/>
          <a:p>
            <a:pPr algn="ctr">
              <a:lnSpc>
                <a:spcPts val="8345"/>
              </a:lnSpc>
            </a:pPr>
            <a:r>
              <a:rPr lang="en-US" sz="7072" b="true">
                <a:solidFill>
                  <a:srgbClr val="000000"/>
                </a:solidFill>
                <a:latin typeface="HK Grotesk Bold"/>
                <a:ea typeface="HK Grotesk Bold"/>
                <a:cs typeface="HK Grotesk Bold"/>
                <a:sym typeface="HK Grotesk Bold"/>
              </a:rPr>
              <a:t>Il Limite delle PINNs</a:t>
            </a:r>
          </a:p>
        </p:txBody>
      </p:sp>
      <p:sp>
        <p:nvSpPr>
          <p:cNvPr name="TextBox 4" id="4"/>
          <p:cNvSpPr txBox="true"/>
          <p:nvPr/>
        </p:nvSpPr>
        <p:spPr>
          <a:xfrm rot="0">
            <a:off x="1991385" y="3990316"/>
            <a:ext cx="3818865" cy="1228090"/>
          </a:xfrm>
          <a:prstGeom prst="rect">
            <a:avLst/>
          </a:prstGeom>
        </p:spPr>
        <p:txBody>
          <a:bodyPr anchor="t" rtlCol="false" tIns="0" lIns="0" bIns="0" rIns="0">
            <a:spAutoFit/>
          </a:bodyPr>
          <a:lstStyle/>
          <a:p>
            <a:pPr algn="ctr">
              <a:lnSpc>
                <a:spcPts val="4940"/>
              </a:lnSpc>
            </a:pPr>
            <a:r>
              <a:rPr lang="en-US" sz="3800" b="true">
                <a:solidFill>
                  <a:srgbClr val="1C53A3"/>
                </a:solidFill>
                <a:latin typeface="Halant Medium"/>
                <a:ea typeface="Halant Medium"/>
                <a:cs typeface="Halant Medium"/>
                <a:sym typeface="Halant Medium"/>
              </a:rPr>
              <a:t>Degradazione sui Gradienti Local</a:t>
            </a:r>
          </a:p>
        </p:txBody>
      </p:sp>
      <p:sp>
        <p:nvSpPr>
          <p:cNvPr name="TextBox 5" id="5"/>
          <p:cNvSpPr txBox="true"/>
          <p:nvPr/>
        </p:nvSpPr>
        <p:spPr>
          <a:xfrm rot="0">
            <a:off x="1384888" y="5638013"/>
            <a:ext cx="4991100" cy="4077654"/>
          </a:xfrm>
          <a:prstGeom prst="rect">
            <a:avLst/>
          </a:prstGeom>
        </p:spPr>
        <p:txBody>
          <a:bodyPr anchor="t" rtlCol="false" tIns="0" lIns="0" bIns="0" rIns="0">
            <a:spAutoFit/>
          </a:bodyPr>
          <a:lstStyle/>
          <a:p>
            <a:pPr algn="ctr">
              <a:lnSpc>
                <a:spcPts val="2983"/>
              </a:lnSpc>
              <a:spcBef>
                <a:spcPct val="0"/>
              </a:spcBef>
            </a:pPr>
            <a:r>
              <a:rPr lang="en-US" sz="2131" spc="-21">
                <a:solidFill>
                  <a:srgbClr val="000000"/>
                </a:solidFill>
                <a:latin typeface="Assistant"/>
                <a:ea typeface="Assistant"/>
                <a:cs typeface="Assistant"/>
                <a:sym typeface="Assistant"/>
              </a:rPr>
              <a:t>Durante le fasi dinamiche di impatto e contatto, i tessuti biologici sviluppano gradienti di deformazione estremamente ripidi e fortemente localizzati attorno alla zona di compressione; le PINN pure, pur integrando la fisica nel loss, mostrano una marcata instabilità numerica e un'incapacità intrinseca di catturare con precisione queste variazioni repentine del campo di stress senza richiedere un numero proibitivo di punti di collocazione.</a:t>
            </a:r>
          </a:p>
        </p:txBody>
      </p:sp>
      <p:sp>
        <p:nvSpPr>
          <p:cNvPr name="TextBox 6" id="6"/>
          <p:cNvSpPr txBox="true"/>
          <p:nvPr/>
        </p:nvSpPr>
        <p:spPr>
          <a:xfrm rot="0">
            <a:off x="6804613" y="3944819"/>
            <a:ext cx="4838016" cy="1328609"/>
          </a:xfrm>
          <a:prstGeom prst="rect">
            <a:avLst/>
          </a:prstGeom>
        </p:spPr>
        <p:txBody>
          <a:bodyPr anchor="t" rtlCol="false" tIns="0" lIns="0" bIns="0" rIns="0">
            <a:spAutoFit/>
          </a:bodyPr>
          <a:lstStyle/>
          <a:p>
            <a:pPr algn="ctr" marL="0" indent="0" lvl="0">
              <a:lnSpc>
                <a:spcPts val="5375"/>
              </a:lnSpc>
              <a:spcBef>
                <a:spcPct val="0"/>
              </a:spcBef>
            </a:pPr>
            <a:r>
              <a:rPr lang="en-US" b="true" sz="4135">
                <a:solidFill>
                  <a:srgbClr val="1C53A3"/>
                </a:solidFill>
                <a:latin typeface="Halant Medium"/>
                <a:ea typeface="Halant Medium"/>
                <a:cs typeface="Halant Medium"/>
                <a:sym typeface="Halant Medium"/>
              </a:rPr>
              <a:t>Mancanz</a:t>
            </a:r>
            <a:r>
              <a:rPr lang="en-US" b="true" sz="4135" u="none">
                <a:solidFill>
                  <a:srgbClr val="1C53A3"/>
                </a:solidFill>
                <a:latin typeface="Halant Medium"/>
                <a:ea typeface="Halant Medium"/>
                <a:cs typeface="Halant Medium"/>
                <a:sym typeface="Halant Medium"/>
              </a:rPr>
              <a:t>a di S</a:t>
            </a:r>
            <a:r>
              <a:rPr lang="en-US" b="true" sz="4135" u="none">
                <a:solidFill>
                  <a:srgbClr val="1C53A3"/>
                </a:solidFill>
                <a:latin typeface="Halant Medium"/>
                <a:ea typeface="Halant Medium"/>
                <a:cs typeface="Halant Medium"/>
                <a:sym typeface="Halant Medium"/>
              </a:rPr>
              <a:t>truttura Topologica</a:t>
            </a:r>
          </a:p>
        </p:txBody>
      </p:sp>
      <p:sp>
        <p:nvSpPr>
          <p:cNvPr name="TextBox 7" id="7"/>
          <p:cNvSpPr txBox="true"/>
          <p:nvPr/>
        </p:nvSpPr>
        <p:spPr>
          <a:xfrm rot="0">
            <a:off x="6804613" y="5651233"/>
            <a:ext cx="5029105" cy="3333348"/>
          </a:xfrm>
          <a:prstGeom prst="rect">
            <a:avLst/>
          </a:prstGeom>
        </p:spPr>
        <p:txBody>
          <a:bodyPr anchor="t" rtlCol="false" tIns="0" lIns="0" bIns="0" rIns="0">
            <a:spAutoFit/>
          </a:bodyPr>
          <a:lstStyle/>
          <a:p>
            <a:pPr algn="ctr">
              <a:lnSpc>
                <a:spcPts val="2983"/>
              </a:lnSpc>
              <a:spcBef>
                <a:spcPct val="0"/>
              </a:spcBef>
            </a:pPr>
            <a:r>
              <a:rPr lang="en-US" sz="2131" spc="-21">
                <a:solidFill>
                  <a:srgbClr val="000000"/>
                </a:solidFill>
                <a:latin typeface="Assistant"/>
                <a:ea typeface="Assistant"/>
                <a:cs typeface="Assistant"/>
                <a:sym typeface="Assistant"/>
              </a:rPr>
              <a:t>L'approccio</a:t>
            </a:r>
            <a:r>
              <a:rPr lang="en-US" sz="2131" spc="-21">
                <a:solidFill>
                  <a:srgbClr val="000000"/>
                </a:solidFill>
                <a:latin typeface="Assistant"/>
                <a:ea typeface="Assistant"/>
                <a:cs typeface="Assistant"/>
                <a:sym typeface="Assistant"/>
              </a:rPr>
              <a:t> mesh-free sottostante alle PINN standard valuta i punti di addestramento in modo indipendente all'interno del dominio continuo, ignorando completamente la connettività geometrica e spaziale della mesh; questa lacuna strutturale impedisce alla rete di propagare e trasmettere correttamente le forze di contatto tra regioni adiacenti del tessuto biologico.</a:t>
            </a:r>
          </a:p>
        </p:txBody>
      </p:sp>
      <p:sp>
        <p:nvSpPr>
          <p:cNvPr name="TextBox 8" id="8"/>
          <p:cNvSpPr txBox="true"/>
          <p:nvPr/>
        </p:nvSpPr>
        <p:spPr>
          <a:xfrm rot="0">
            <a:off x="12268200" y="3990316"/>
            <a:ext cx="4784085" cy="1228090"/>
          </a:xfrm>
          <a:prstGeom prst="rect">
            <a:avLst/>
          </a:prstGeom>
        </p:spPr>
        <p:txBody>
          <a:bodyPr anchor="t" rtlCol="false" tIns="0" lIns="0" bIns="0" rIns="0">
            <a:spAutoFit/>
          </a:bodyPr>
          <a:lstStyle/>
          <a:p>
            <a:pPr algn="ctr" marL="0" indent="0" lvl="0">
              <a:lnSpc>
                <a:spcPts val="4939"/>
              </a:lnSpc>
              <a:spcBef>
                <a:spcPct val="0"/>
              </a:spcBef>
            </a:pPr>
            <a:r>
              <a:rPr lang="en-US" b="true" sz="3799">
                <a:solidFill>
                  <a:srgbClr val="1C53A3"/>
                </a:solidFill>
                <a:latin typeface="Halant Medium"/>
                <a:ea typeface="Halant Medium"/>
                <a:cs typeface="Halant Medium"/>
                <a:sym typeface="Halant Medium"/>
              </a:rPr>
              <a:t>Transi</a:t>
            </a:r>
            <a:r>
              <a:rPr lang="en-US" b="true" sz="3799" u="none">
                <a:solidFill>
                  <a:srgbClr val="1C53A3"/>
                </a:solidFill>
                <a:latin typeface="Halant Medium"/>
                <a:ea typeface="Halant Medium"/>
                <a:cs typeface="Halant Medium"/>
                <a:sym typeface="Halant Medium"/>
              </a:rPr>
              <a:t>zione Necessaria al Modello Ibrido</a:t>
            </a:r>
          </a:p>
        </p:txBody>
      </p:sp>
      <p:sp>
        <p:nvSpPr>
          <p:cNvPr name="TextBox 9" id="9"/>
          <p:cNvSpPr txBox="true"/>
          <p:nvPr/>
        </p:nvSpPr>
        <p:spPr>
          <a:xfrm rot="0">
            <a:off x="12268200" y="5638013"/>
            <a:ext cx="4784085" cy="3333348"/>
          </a:xfrm>
          <a:prstGeom prst="rect">
            <a:avLst/>
          </a:prstGeom>
        </p:spPr>
        <p:txBody>
          <a:bodyPr anchor="t" rtlCol="false" tIns="0" lIns="0" bIns="0" rIns="0">
            <a:spAutoFit/>
          </a:bodyPr>
          <a:lstStyle/>
          <a:p>
            <a:pPr algn="ctr">
              <a:lnSpc>
                <a:spcPts val="2983"/>
              </a:lnSpc>
              <a:spcBef>
                <a:spcPct val="0"/>
              </a:spcBef>
            </a:pPr>
            <a:r>
              <a:rPr lang="en-US" sz="2131" spc="-21">
                <a:solidFill>
                  <a:srgbClr val="000000"/>
                </a:solidFill>
                <a:latin typeface="Assistant"/>
                <a:ea typeface="Assistant"/>
                <a:cs typeface="Assistant"/>
                <a:sym typeface="Assistant"/>
              </a:rPr>
              <a:t>Alla lu</a:t>
            </a:r>
            <a:r>
              <a:rPr lang="en-US" sz="2131" spc="-21">
                <a:solidFill>
                  <a:srgbClr val="000000"/>
                </a:solidFill>
                <a:latin typeface="Assistant"/>
                <a:ea typeface="Assistant"/>
                <a:cs typeface="Assistant"/>
                <a:sym typeface="Assistant"/>
              </a:rPr>
              <a:t>ce dei risultati empirici altamente insoddisfacenti e della scarsa efficacia dimostrata dalle PINN nello stimare autonomamente le deformazioni sotto carico, si è resa indispensabile la transizione verso un'architettura ibrida, progettata per coniugare il rigore fisico dei residui PDE con la robustezza topologica delle MeshGraphNet.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762329" y="3406824"/>
            <a:ext cx="8532565" cy="8938878"/>
          </a:xfrm>
          <a:custGeom>
            <a:avLst/>
            <a:gdLst/>
            <a:ahLst/>
            <a:cxnLst/>
            <a:rect r="r" b="b" t="t" l="l"/>
            <a:pathLst>
              <a:path h="8938878" w="8532565">
                <a:moveTo>
                  <a:pt x="0" y="0"/>
                </a:moveTo>
                <a:lnTo>
                  <a:pt x="8532565" y="0"/>
                </a:lnTo>
                <a:lnTo>
                  <a:pt x="8532565" y="8938878"/>
                </a:lnTo>
                <a:lnTo>
                  <a:pt x="0" y="89388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65794" y="6819952"/>
            <a:ext cx="10061134" cy="1056311"/>
          </a:xfrm>
          <a:prstGeom prst="rect">
            <a:avLst/>
          </a:prstGeom>
        </p:spPr>
        <p:txBody>
          <a:bodyPr anchor="t" rtlCol="false" tIns="0" lIns="0" bIns="0" rIns="0">
            <a:spAutoFit/>
          </a:bodyPr>
          <a:lstStyle/>
          <a:p>
            <a:pPr algn="l">
              <a:lnSpc>
                <a:spcPts val="8345"/>
              </a:lnSpc>
            </a:pPr>
            <a:r>
              <a:rPr lang="en-US" sz="7072" b="true">
                <a:solidFill>
                  <a:srgbClr val="FFFFFF"/>
                </a:solidFill>
                <a:latin typeface="HK Grotesk Bold"/>
                <a:ea typeface="HK Grotesk Bold"/>
                <a:cs typeface="HK Grotesk Bold"/>
                <a:sym typeface="HK Grotesk Bold"/>
              </a:rPr>
              <a:t>Proposta MGN + PINNs</a:t>
            </a:r>
          </a:p>
        </p:txBody>
      </p:sp>
      <p:sp>
        <p:nvSpPr>
          <p:cNvPr name="TextBox 4" id="4"/>
          <p:cNvSpPr txBox="true"/>
          <p:nvPr/>
        </p:nvSpPr>
        <p:spPr>
          <a:xfrm rot="0">
            <a:off x="6481962" y="8234066"/>
            <a:ext cx="10777338" cy="398927"/>
          </a:xfrm>
          <a:prstGeom prst="rect">
            <a:avLst/>
          </a:prstGeom>
        </p:spPr>
        <p:txBody>
          <a:bodyPr anchor="t" rtlCol="false" tIns="0" lIns="0" bIns="0" rIns="0">
            <a:spAutoFit/>
          </a:bodyPr>
          <a:lstStyle/>
          <a:p>
            <a:pPr algn="l">
              <a:lnSpc>
                <a:spcPts val="3230"/>
              </a:lnSpc>
              <a:spcBef>
                <a:spcPct val="0"/>
              </a:spcBef>
            </a:pPr>
            <a:r>
              <a:rPr lang="en-US" sz="2307" spc="-23">
                <a:solidFill>
                  <a:srgbClr val="FFFFFF"/>
                </a:solidFill>
                <a:latin typeface="Assistant"/>
                <a:ea typeface="Assistant"/>
                <a:cs typeface="Assistant"/>
                <a:sym typeface="Assistant"/>
              </a:rPr>
              <a:t>...</a:t>
            </a:r>
          </a:p>
        </p:txBody>
      </p:sp>
      <p:sp>
        <p:nvSpPr>
          <p:cNvPr name="TextBox 5" id="5"/>
          <p:cNvSpPr txBox="true"/>
          <p:nvPr/>
        </p:nvSpPr>
        <p:spPr>
          <a:xfrm rot="0">
            <a:off x="15785030" y="1038225"/>
            <a:ext cx="1483795" cy="1002000"/>
          </a:xfrm>
          <a:prstGeom prst="rect">
            <a:avLst/>
          </a:prstGeom>
        </p:spPr>
        <p:txBody>
          <a:bodyPr anchor="t" rtlCol="false" tIns="0" lIns="0" bIns="0" rIns="0">
            <a:spAutoFit/>
          </a:bodyPr>
          <a:lstStyle/>
          <a:p>
            <a:pPr algn="r" marL="0" indent="0" lvl="0">
              <a:lnSpc>
                <a:spcPts val="7910"/>
              </a:lnSpc>
              <a:spcBef>
                <a:spcPct val="0"/>
              </a:spcBef>
            </a:pPr>
            <a:r>
              <a:rPr lang="en-US" b="true" sz="6703">
                <a:solidFill>
                  <a:srgbClr val="FFFFFF">
                    <a:alpha val="60000"/>
                  </a:srgbClr>
                </a:solidFill>
                <a:latin typeface="HK Grotesk Bold"/>
                <a:ea typeface="HK Grotesk Bold"/>
                <a:cs typeface="HK Grotesk Bold"/>
                <a:sym typeface="HK Grotesk Bold"/>
              </a:rPr>
              <a:t>04</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73338">
            <a:off x="-1142959" y="-2884331"/>
            <a:ext cx="7249732" cy="6485214"/>
          </a:xfrm>
          <a:custGeom>
            <a:avLst/>
            <a:gdLst/>
            <a:ahLst/>
            <a:cxnLst/>
            <a:rect r="r" b="b" t="t" l="l"/>
            <a:pathLst>
              <a:path h="6485214" w="7249732">
                <a:moveTo>
                  <a:pt x="0" y="0"/>
                </a:moveTo>
                <a:lnTo>
                  <a:pt x="7249731" y="0"/>
                </a:lnTo>
                <a:lnTo>
                  <a:pt x="7249731" y="6485214"/>
                </a:lnTo>
                <a:lnTo>
                  <a:pt x="0" y="6485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37164" y="7336957"/>
            <a:ext cx="8409891" cy="7003146"/>
          </a:xfrm>
          <a:custGeom>
            <a:avLst/>
            <a:gdLst/>
            <a:ahLst/>
            <a:cxnLst/>
            <a:rect r="r" b="b" t="t" l="l"/>
            <a:pathLst>
              <a:path h="7003146" w="8409891">
                <a:moveTo>
                  <a:pt x="0" y="0"/>
                </a:moveTo>
                <a:lnTo>
                  <a:pt x="8409891" y="0"/>
                </a:lnTo>
                <a:lnTo>
                  <a:pt x="8409891" y="7003146"/>
                </a:lnTo>
                <a:lnTo>
                  <a:pt x="0" y="7003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334052" y="850158"/>
            <a:ext cx="10726942" cy="1056311"/>
          </a:xfrm>
          <a:prstGeom prst="rect">
            <a:avLst/>
          </a:prstGeom>
        </p:spPr>
        <p:txBody>
          <a:bodyPr anchor="t" rtlCol="false" tIns="0" lIns="0" bIns="0" rIns="0">
            <a:spAutoFit/>
          </a:bodyPr>
          <a:lstStyle/>
          <a:p>
            <a:pPr algn="ctr">
              <a:lnSpc>
                <a:spcPts val="8345"/>
              </a:lnSpc>
            </a:pPr>
            <a:r>
              <a:rPr lang="en-US" sz="7072" b="true">
                <a:solidFill>
                  <a:srgbClr val="000000"/>
                </a:solidFill>
                <a:latin typeface="HK Grotesk Bold"/>
                <a:ea typeface="HK Grotesk Bold"/>
                <a:cs typeface="HK Grotesk Bold"/>
                <a:sym typeface="HK Grotesk Bold"/>
              </a:rPr>
              <a:t>Formulazione ibrida</a:t>
            </a:r>
          </a:p>
        </p:txBody>
      </p:sp>
      <p:sp>
        <p:nvSpPr>
          <p:cNvPr name="TextBox 5" id="5"/>
          <p:cNvSpPr txBox="true"/>
          <p:nvPr/>
        </p:nvSpPr>
        <p:spPr>
          <a:xfrm rot="0">
            <a:off x="1730495" y="3759838"/>
            <a:ext cx="3818865" cy="608965"/>
          </a:xfrm>
          <a:prstGeom prst="rect">
            <a:avLst/>
          </a:prstGeom>
        </p:spPr>
        <p:txBody>
          <a:bodyPr anchor="t" rtlCol="false" tIns="0" lIns="0" bIns="0" rIns="0">
            <a:spAutoFit/>
          </a:bodyPr>
          <a:lstStyle/>
          <a:p>
            <a:pPr algn="ctr">
              <a:lnSpc>
                <a:spcPts val="4940"/>
              </a:lnSpc>
            </a:pPr>
            <a:r>
              <a:rPr lang="en-US" sz="3800" b="true">
                <a:solidFill>
                  <a:srgbClr val="1C53A3"/>
                </a:solidFill>
                <a:latin typeface="Halant Medium"/>
                <a:ea typeface="Halant Medium"/>
                <a:cs typeface="Halant Medium"/>
                <a:sym typeface="Halant Medium"/>
              </a:rPr>
              <a:t>...</a:t>
            </a:r>
          </a:p>
        </p:txBody>
      </p:sp>
      <p:sp>
        <p:nvSpPr>
          <p:cNvPr name="TextBox 6" id="6"/>
          <p:cNvSpPr txBox="true"/>
          <p:nvPr/>
        </p:nvSpPr>
        <p:spPr>
          <a:xfrm rot="0">
            <a:off x="1123997" y="5407534"/>
            <a:ext cx="4991100" cy="356122"/>
          </a:xfrm>
          <a:prstGeom prst="rect">
            <a:avLst/>
          </a:prstGeom>
        </p:spPr>
        <p:txBody>
          <a:bodyPr anchor="t" rtlCol="false" tIns="0" lIns="0" bIns="0" rIns="0">
            <a:spAutoFit/>
          </a:bodyPr>
          <a:lstStyle/>
          <a:p>
            <a:pPr algn="ctr">
              <a:lnSpc>
                <a:spcPts val="2983"/>
              </a:lnSpc>
              <a:spcBef>
                <a:spcPct val="0"/>
              </a:spcBef>
            </a:pPr>
            <a:r>
              <a:rPr lang="en-US" sz="2131" spc="-21">
                <a:solidFill>
                  <a:srgbClr val="000000"/>
                </a:solidFill>
                <a:latin typeface="Assistant"/>
                <a:ea typeface="Assistant"/>
                <a:cs typeface="Assistant"/>
                <a:sym typeface="Assistant"/>
              </a:rPr>
              <a:t>...</a:t>
            </a:r>
          </a:p>
        </p:txBody>
      </p:sp>
      <p:sp>
        <p:nvSpPr>
          <p:cNvPr name="TextBox 7" id="7"/>
          <p:cNvSpPr txBox="true"/>
          <p:nvPr/>
        </p:nvSpPr>
        <p:spPr>
          <a:xfrm rot="0">
            <a:off x="6629447" y="3023362"/>
            <a:ext cx="4838016" cy="652334"/>
          </a:xfrm>
          <a:prstGeom prst="rect">
            <a:avLst/>
          </a:prstGeom>
        </p:spPr>
        <p:txBody>
          <a:bodyPr anchor="t" rtlCol="false" tIns="0" lIns="0" bIns="0" rIns="0">
            <a:spAutoFit/>
          </a:bodyPr>
          <a:lstStyle/>
          <a:p>
            <a:pPr algn="ctr" marL="0" indent="0" lvl="0">
              <a:lnSpc>
                <a:spcPts val="5375"/>
              </a:lnSpc>
              <a:spcBef>
                <a:spcPct val="0"/>
              </a:spcBef>
            </a:pPr>
            <a:r>
              <a:rPr lang="en-US" b="true" sz="4135">
                <a:solidFill>
                  <a:srgbClr val="1C53A3"/>
                </a:solidFill>
                <a:latin typeface="Halant Medium"/>
                <a:ea typeface="Halant Medium"/>
                <a:cs typeface="Halant Medium"/>
                <a:sym typeface="Halant Medium"/>
              </a:rPr>
              <a:t>...</a:t>
            </a:r>
          </a:p>
        </p:txBody>
      </p:sp>
      <p:sp>
        <p:nvSpPr>
          <p:cNvPr name="TextBox 8" id="8"/>
          <p:cNvSpPr txBox="true"/>
          <p:nvPr/>
        </p:nvSpPr>
        <p:spPr>
          <a:xfrm rot="0">
            <a:off x="6629447" y="4729776"/>
            <a:ext cx="5029105" cy="356122"/>
          </a:xfrm>
          <a:prstGeom prst="rect">
            <a:avLst/>
          </a:prstGeom>
        </p:spPr>
        <p:txBody>
          <a:bodyPr anchor="t" rtlCol="false" tIns="0" lIns="0" bIns="0" rIns="0">
            <a:spAutoFit/>
          </a:bodyPr>
          <a:lstStyle/>
          <a:p>
            <a:pPr algn="ctr">
              <a:lnSpc>
                <a:spcPts val="2983"/>
              </a:lnSpc>
              <a:spcBef>
                <a:spcPct val="0"/>
              </a:spcBef>
            </a:pPr>
            <a:r>
              <a:rPr lang="en-US" sz="2131" spc="-21">
                <a:solidFill>
                  <a:srgbClr val="000000"/>
                </a:solidFill>
                <a:latin typeface="Assistant"/>
                <a:ea typeface="Assistant"/>
                <a:cs typeface="Assistant"/>
                <a:sym typeface="Assistant"/>
              </a:rPr>
              <a:t>...</a:t>
            </a:r>
          </a:p>
        </p:txBody>
      </p:sp>
      <p:sp>
        <p:nvSpPr>
          <p:cNvPr name="TextBox 9" id="9"/>
          <p:cNvSpPr txBox="true"/>
          <p:nvPr/>
        </p:nvSpPr>
        <p:spPr>
          <a:xfrm rot="0">
            <a:off x="12172655" y="2112141"/>
            <a:ext cx="4784085" cy="608965"/>
          </a:xfrm>
          <a:prstGeom prst="rect">
            <a:avLst/>
          </a:prstGeom>
        </p:spPr>
        <p:txBody>
          <a:bodyPr anchor="t" rtlCol="false" tIns="0" lIns="0" bIns="0" rIns="0">
            <a:spAutoFit/>
          </a:bodyPr>
          <a:lstStyle/>
          <a:p>
            <a:pPr algn="ctr" marL="0" indent="0" lvl="0">
              <a:lnSpc>
                <a:spcPts val="4939"/>
              </a:lnSpc>
              <a:spcBef>
                <a:spcPct val="0"/>
              </a:spcBef>
            </a:pPr>
            <a:r>
              <a:rPr lang="en-US" b="true" sz="3799">
                <a:solidFill>
                  <a:srgbClr val="1C53A3"/>
                </a:solidFill>
                <a:latin typeface="Halant Medium"/>
                <a:ea typeface="Halant Medium"/>
                <a:cs typeface="Halant Medium"/>
                <a:sym typeface="Halant Medium"/>
              </a:rPr>
              <a:t>...</a:t>
            </a:r>
          </a:p>
        </p:txBody>
      </p:sp>
      <p:sp>
        <p:nvSpPr>
          <p:cNvPr name="TextBox 10" id="10"/>
          <p:cNvSpPr txBox="true"/>
          <p:nvPr/>
        </p:nvSpPr>
        <p:spPr>
          <a:xfrm rot="0">
            <a:off x="12172655" y="3759838"/>
            <a:ext cx="4784085" cy="356122"/>
          </a:xfrm>
          <a:prstGeom prst="rect">
            <a:avLst/>
          </a:prstGeom>
        </p:spPr>
        <p:txBody>
          <a:bodyPr anchor="t" rtlCol="false" tIns="0" lIns="0" bIns="0" rIns="0">
            <a:spAutoFit/>
          </a:bodyPr>
          <a:lstStyle/>
          <a:p>
            <a:pPr algn="ctr">
              <a:lnSpc>
                <a:spcPts val="2983"/>
              </a:lnSpc>
              <a:spcBef>
                <a:spcPct val="0"/>
              </a:spcBef>
            </a:pPr>
            <a:r>
              <a:rPr lang="en-US" sz="2131" spc="-21">
                <a:solidFill>
                  <a:srgbClr val="000000"/>
                </a:solidFill>
                <a:latin typeface="Assistant"/>
                <a:ea typeface="Assistant"/>
                <a:cs typeface="Assistant"/>
                <a:sym typeface="Assistant"/>
              </a:rPr>
              <a: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2509123">
            <a:off x="15362119" y="-2528554"/>
            <a:ext cx="4429841" cy="7710167"/>
          </a:xfrm>
          <a:custGeom>
            <a:avLst/>
            <a:gdLst/>
            <a:ahLst/>
            <a:cxnLst/>
            <a:rect r="r" b="b" t="t" l="l"/>
            <a:pathLst>
              <a:path h="7710167" w="4429841">
                <a:moveTo>
                  <a:pt x="0" y="0"/>
                </a:moveTo>
                <a:lnTo>
                  <a:pt x="4429841" y="0"/>
                </a:lnTo>
                <a:lnTo>
                  <a:pt x="4429841" y="7710167"/>
                </a:lnTo>
                <a:lnTo>
                  <a:pt x="0" y="7710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149751">
            <a:off x="-3741213" y="4822482"/>
            <a:ext cx="8970610" cy="7437451"/>
          </a:xfrm>
          <a:custGeom>
            <a:avLst/>
            <a:gdLst/>
            <a:ahLst/>
            <a:cxnLst/>
            <a:rect r="r" b="b" t="t" l="l"/>
            <a:pathLst>
              <a:path h="7437451" w="8970610">
                <a:moveTo>
                  <a:pt x="0" y="0"/>
                </a:moveTo>
                <a:lnTo>
                  <a:pt x="8970610" y="0"/>
                </a:lnTo>
                <a:lnTo>
                  <a:pt x="8970610" y="7437451"/>
                </a:lnTo>
                <a:lnTo>
                  <a:pt x="0" y="74374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920212"/>
            <a:ext cx="10237362" cy="1154356"/>
          </a:xfrm>
          <a:prstGeom prst="rect">
            <a:avLst/>
          </a:prstGeom>
        </p:spPr>
        <p:txBody>
          <a:bodyPr anchor="t" rtlCol="false" tIns="0" lIns="0" bIns="0" rIns="0">
            <a:spAutoFit/>
          </a:bodyPr>
          <a:lstStyle/>
          <a:p>
            <a:pPr algn="l">
              <a:lnSpc>
                <a:spcPts val="9018"/>
              </a:lnSpc>
            </a:pPr>
            <a:r>
              <a:rPr lang="en-US" sz="7642" b="true">
                <a:solidFill>
                  <a:srgbClr val="FFFFFF"/>
                </a:solidFill>
                <a:latin typeface="HK Grotesk Bold"/>
                <a:ea typeface="HK Grotesk Bold"/>
                <a:cs typeface="HK Grotesk Bold"/>
                <a:sym typeface="HK Grotesk Bold"/>
              </a:rPr>
              <a:t>Risultati MGN</a:t>
            </a:r>
          </a:p>
        </p:txBody>
      </p:sp>
      <p:sp>
        <p:nvSpPr>
          <p:cNvPr name="TextBox 5" id="5"/>
          <p:cNvSpPr txBox="true"/>
          <p:nvPr/>
        </p:nvSpPr>
        <p:spPr>
          <a:xfrm rot="0">
            <a:off x="15775505" y="8256300"/>
            <a:ext cx="1483795" cy="1002000"/>
          </a:xfrm>
          <a:prstGeom prst="rect">
            <a:avLst/>
          </a:prstGeom>
        </p:spPr>
        <p:txBody>
          <a:bodyPr anchor="t" rtlCol="false" tIns="0" lIns="0" bIns="0" rIns="0">
            <a:spAutoFit/>
          </a:bodyPr>
          <a:lstStyle/>
          <a:p>
            <a:pPr algn="r" marL="0" indent="0" lvl="0">
              <a:lnSpc>
                <a:spcPts val="7910"/>
              </a:lnSpc>
              <a:spcBef>
                <a:spcPct val="0"/>
              </a:spcBef>
            </a:pPr>
            <a:r>
              <a:rPr lang="en-US" b="true" sz="6703">
                <a:solidFill>
                  <a:srgbClr val="FFFFFF">
                    <a:alpha val="60000"/>
                  </a:srgbClr>
                </a:solidFill>
                <a:latin typeface="HK Grotesk Bold"/>
                <a:ea typeface="HK Grotesk Bold"/>
                <a:cs typeface="HK Grotesk Bold"/>
                <a:sym typeface="HK Grotesk Bold"/>
              </a:rPr>
              <a:t>05</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5790863"/>
            <a:ext cx="8973244" cy="6281271"/>
          </a:xfrm>
          <a:custGeom>
            <a:avLst/>
            <a:gdLst/>
            <a:ahLst/>
            <a:cxnLst/>
            <a:rect r="r" b="b" t="t" l="l"/>
            <a:pathLst>
              <a:path h="6281271" w="8973244">
                <a:moveTo>
                  <a:pt x="0" y="0"/>
                </a:moveTo>
                <a:lnTo>
                  <a:pt x="8973244" y="0"/>
                </a:lnTo>
                <a:lnTo>
                  <a:pt x="8973244" y="6281270"/>
                </a:lnTo>
                <a:lnTo>
                  <a:pt x="0" y="62812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685460" y="2584747"/>
            <a:ext cx="1851660" cy="4114800"/>
          </a:xfrm>
          <a:custGeom>
            <a:avLst/>
            <a:gdLst/>
            <a:ahLst/>
            <a:cxnLst/>
            <a:rect r="r" b="b" t="t" l="l"/>
            <a:pathLst>
              <a:path h="4114800" w="1851660">
                <a:moveTo>
                  <a:pt x="0" y="0"/>
                </a:moveTo>
                <a:lnTo>
                  <a:pt x="1851660" y="0"/>
                </a:lnTo>
                <a:lnTo>
                  <a:pt x="185166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644333" y="4819967"/>
            <a:ext cx="2999333"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test di trazione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96392">
            <a:off x="13604818" y="-1055081"/>
            <a:ext cx="8949997" cy="6281271"/>
          </a:xfrm>
          <a:custGeom>
            <a:avLst/>
            <a:gdLst/>
            <a:ahLst/>
            <a:cxnLst/>
            <a:rect r="r" b="b" t="t" l="l"/>
            <a:pathLst>
              <a:path h="6281271" w="8949997">
                <a:moveTo>
                  <a:pt x="0" y="0"/>
                </a:moveTo>
                <a:lnTo>
                  <a:pt x="8949997" y="0"/>
                </a:lnTo>
                <a:lnTo>
                  <a:pt x="8949997" y="6281270"/>
                </a:lnTo>
                <a:lnTo>
                  <a:pt x="0" y="62812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849716" y="4819967"/>
            <a:ext cx="2588568"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test di spinta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0">
            <a:off x="12072895" y="0"/>
            <a:ext cx="10372809" cy="4545176"/>
          </a:xfrm>
          <a:custGeom>
            <a:avLst/>
            <a:gdLst/>
            <a:ahLst/>
            <a:cxnLst/>
            <a:rect r="r" b="b" t="t" l="l"/>
            <a:pathLst>
              <a:path h="4545176" w="10372809">
                <a:moveTo>
                  <a:pt x="0" y="0"/>
                </a:moveTo>
                <a:lnTo>
                  <a:pt x="10372810" y="0"/>
                </a:lnTo>
                <a:lnTo>
                  <a:pt x="10372810" y="4545176"/>
                </a:lnTo>
                <a:lnTo>
                  <a:pt x="0" y="45451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25040" y="1028700"/>
            <a:ext cx="4802358" cy="11687153"/>
          </a:xfrm>
          <a:custGeom>
            <a:avLst/>
            <a:gdLst/>
            <a:ahLst/>
            <a:cxnLst/>
            <a:rect r="r" b="b" t="t" l="l"/>
            <a:pathLst>
              <a:path h="11687153" w="4802358">
                <a:moveTo>
                  <a:pt x="4802358" y="0"/>
                </a:moveTo>
                <a:lnTo>
                  <a:pt x="0" y="0"/>
                </a:lnTo>
                <a:lnTo>
                  <a:pt x="0" y="11687153"/>
                </a:lnTo>
                <a:lnTo>
                  <a:pt x="4802358" y="11687153"/>
                </a:lnTo>
                <a:lnTo>
                  <a:pt x="48023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689150" y="3819729"/>
            <a:ext cx="10909700" cy="2647541"/>
            <a:chOff x="0" y="0"/>
            <a:chExt cx="14546267" cy="3530055"/>
          </a:xfrm>
        </p:grpSpPr>
        <p:sp>
          <p:nvSpPr>
            <p:cNvPr name="TextBox 5" id="5"/>
            <p:cNvSpPr txBox="true"/>
            <p:nvPr/>
          </p:nvSpPr>
          <p:spPr>
            <a:xfrm rot="0">
              <a:off x="0" y="9525"/>
              <a:ext cx="14546267" cy="1943146"/>
            </a:xfrm>
            <a:prstGeom prst="rect">
              <a:avLst/>
            </a:prstGeom>
          </p:spPr>
          <p:txBody>
            <a:bodyPr anchor="t" rtlCol="false" tIns="0" lIns="0" bIns="0" rIns="0">
              <a:spAutoFit/>
            </a:bodyPr>
            <a:lstStyle/>
            <a:p>
              <a:pPr algn="ctr">
                <a:lnSpc>
                  <a:spcPts val="5782"/>
                </a:lnSpc>
              </a:pPr>
              <a:r>
                <a:rPr lang="en-US" sz="4900">
                  <a:solidFill>
                    <a:srgbClr val="FFFFFF"/>
                  </a:solidFill>
                  <a:latin typeface="HK Grotesk"/>
                  <a:ea typeface="HK Grotesk"/>
                  <a:cs typeface="HK Grotesk"/>
                  <a:sym typeface="HK Grotesk"/>
                </a:rPr>
                <a:t>“Il cibo caduto a terra è buono se preso prima dei 5 sec”</a:t>
              </a:r>
            </a:p>
          </p:txBody>
        </p:sp>
        <p:sp>
          <p:nvSpPr>
            <p:cNvPr name="TextBox 6" id="6"/>
            <p:cNvSpPr txBox="true"/>
            <p:nvPr/>
          </p:nvSpPr>
          <p:spPr>
            <a:xfrm rot="0">
              <a:off x="1627322" y="2802422"/>
              <a:ext cx="11291623" cy="699916"/>
            </a:xfrm>
            <a:prstGeom prst="rect">
              <a:avLst/>
            </a:prstGeom>
          </p:spPr>
          <p:txBody>
            <a:bodyPr anchor="t" rtlCol="false" tIns="0" lIns="0" bIns="0" rIns="0">
              <a:spAutoFit/>
            </a:bodyPr>
            <a:lstStyle/>
            <a:p>
              <a:pPr algn="l">
                <a:lnSpc>
                  <a:spcPts val="4456"/>
                </a:lnSpc>
              </a:pPr>
              <a:r>
                <a:rPr lang="en-US" sz="3427" b="true">
                  <a:solidFill>
                    <a:srgbClr val="FFFFFF"/>
                  </a:solidFill>
                  <a:latin typeface="Halant Medium"/>
                  <a:ea typeface="Halant Medium"/>
                  <a:cs typeface="Halant Medium"/>
                  <a:sym typeface="Halant Medium"/>
                </a:rPr>
                <a:t>                           -Aristotele</a:t>
              </a:r>
            </a:p>
          </p:txBody>
        </p:sp>
      </p:grpSp>
      <p:sp>
        <p:nvSpPr>
          <p:cNvPr name="Freeform 7" id="7"/>
          <p:cNvSpPr/>
          <p:nvPr/>
        </p:nvSpPr>
        <p:spPr>
          <a:xfrm flipH="true" flipV="false" rot="-6516449">
            <a:off x="17054054" y="3440172"/>
            <a:ext cx="4802358" cy="11687153"/>
          </a:xfrm>
          <a:custGeom>
            <a:avLst/>
            <a:gdLst/>
            <a:ahLst/>
            <a:cxnLst/>
            <a:rect r="r" b="b" t="t" l="l"/>
            <a:pathLst>
              <a:path h="11687153" w="4802358">
                <a:moveTo>
                  <a:pt x="4802358" y="0"/>
                </a:moveTo>
                <a:lnTo>
                  <a:pt x="0" y="0"/>
                </a:lnTo>
                <a:lnTo>
                  <a:pt x="0" y="11687153"/>
                </a:lnTo>
                <a:lnTo>
                  <a:pt x="4802358" y="11687153"/>
                </a:lnTo>
                <a:lnTo>
                  <a:pt x="48023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TextBox 2" id="2"/>
          <p:cNvSpPr txBox="true"/>
          <p:nvPr/>
        </p:nvSpPr>
        <p:spPr>
          <a:xfrm rot="0">
            <a:off x="1933544" y="629918"/>
            <a:ext cx="4950916" cy="6336736"/>
          </a:xfrm>
          <a:prstGeom prst="rect">
            <a:avLst/>
          </a:prstGeom>
        </p:spPr>
        <p:txBody>
          <a:bodyPr anchor="t" rtlCol="false" tIns="0" lIns="0" bIns="0" rIns="0">
            <a:spAutoFit/>
          </a:bodyPr>
          <a:lstStyle/>
          <a:p>
            <a:pPr algn="ctr">
              <a:lnSpc>
                <a:spcPts val="5582"/>
              </a:lnSpc>
            </a:pPr>
          </a:p>
          <a:p>
            <a:pPr algn="ctr">
              <a:lnSpc>
                <a:spcPts val="5582"/>
              </a:lnSpc>
            </a:pPr>
            <a:r>
              <a:rPr lang="en-US" sz="4294" b="true">
                <a:solidFill>
                  <a:srgbClr val="FFFFFF"/>
                </a:solidFill>
                <a:latin typeface="Halant Medium"/>
                <a:ea typeface="Halant Medium"/>
                <a:cs typeface="Halant Medium"/>
                <a:sym typeface="Halant Medium"/>
              </a:rPr>
              <a:t>teoria</a:t>
            </a:r>
          </a:p>
          <a:p>
            <a:pPr algn="ctr">
              <a:lnSpc>
                <a:spcPts val="5582"/>
              </a:lnSpc>
            </a:pPr>
            <a:r>
              <a:rPr lang="en-US" sz="4294" b="true">
                <a:solidFill>
                  <a:srgbClr val="FFFFFF"/>
                </a:solidFill>
                <a:latin typeface="Halant Medium"/>
                <a:ea typeface="Halant Medium"/>
                <a:cs typeface="Halant Medium"/>
                <a:sym typeface="Halant Medium"/>
              </a:rPr>
              <a:t>formule paper</a:t>
            </a:r>
          </a:p>
          <a:p>
            <a:pPr algn="ctr">
              <a:lnSpc>
                <a:spcPts val="5582"/>
              </a:lnSpc>
            </a:pPr>
            <a:r>
              <a:rPr lang="en-US" sz="4294" b="true">
                <a:solidFill>
                  <a:srgbClr val="FFFFFF"/>
                </a:solidFill>
                <a:latin typeface="Halant Medium"/>
                <a:ea typeface="Halant Medium"/>
                <a:cs typeface="Halant Medium"/>
                <a:sym typeface="Halant Medium"/>
              </a:rPr>
              <a:t>pipeline</a:t>
            </a:r>
          </a:p>
          <a:p>
            <a:pPr algn="ctr">
              <a:lnSpc>
                <a:spcPts val="5582"/>
              </a:lnSpc>
            </a:pPr>
            <a:r>
              <a:rPr lang="en-US" sz="4294" b="true">
                <a:solidFill>
                  <a:srgbClr val="FFFFFF"/>
                </a:solidFill>
                <a:latin typeface="Halant Medium"/>
                <a:ea typeface="Halant Medium"/>
                <a:cs typeface="Halant Medium"/>
                <a:sym typeface="Halant Medium"/>
              </a:rPr>
              <a:t>schema codice</a:t>
            </a:r>
          </a:p>
          <a:p>
            <a:pPr algn="ctr">
              <a:lnSpc>
                <a:spcPts val="5582"/>
              </a:lnSpc>
            </a:pPr>
            <a:r>
              <a:rPr lang="en-US" sz="4294" b="true">
                <a:solidFill>
                  <a:srgbClr val="FFFFFF"/>
                </a:solidFill>
                <a:latin typeface="Halant Medium"/>
                <a:ea typeface="Halant Medium"/>
                <a:cs typeface="Halant Medium"/>
                <a:sym typeface="Halant Medium"/>
              </a:rPr>
              <a:t>Risultati PINN</a:t>
            </a:r>
          </a:p>
          <a:p>
            <a:pPr algn="ctr">
              <a:lnSpc>
                <a:spcPts val="5582"/>
              </a:lnSpc>
            </a:pPr>
            <a:r>
              <a:rPr lang="en-US" sz="4294" b="true">
                <a:solidFill>
                  <a:srgbClr val="FFFFFF"/>
                </a:solidFill>
                <a:latin typeface="Halant Medium"/>
                <a:ea typeface="Halant Medium"/>
                <a:cs typeface="Halant Medium"/>
                <a:sym typeface="Halant Medium"/>
              </a:rPr>
              <a:t>Risultati MGN</a:t>
            </a:r>
          </a:p>
          <a:p>
            <a:pPr algn="ctr">
              <a:lnSpc>
                <a:spcPts val="5582"/>
              </a:lnSpc>
            </a:pPr>
            <a:r>
              <a:rPr lang="en-US" sz="4294" b="true">
                <a:solidFill>
                  <a:srgbClr val="FFFFFF"/>
                </a:solidFill>
                <a:latin typeface="Halant Medium"/>
                <a:ea typeface="Halant Medium"/>
                <a:cs typeface="Halant Medium"/>
                <a:sym typeface="Halant Medium"/>
              </a:rPr>
              <a:t>(forse) compressione</a:t>
            </a:r>
          </a:p>
          <a:p>
            <a:pPr algn="ctr">
              <a:lnSpc>
                <a:spcPts val="5582"/>
              </a:lnSpc>
              <a:spcBef>
                <a:spcPct val="0"/>
              </a:spcBef>
            </a:pPr>
          </a:p>
        </p:txBody>
      </p:sp>
      <p:sp>
        <p:nvSpPr>
          <p:cNvPr name="Freeform 3" id="3"/>
          <p:cNvSpPr/>
          <p:nvPr/>
        </p:nvSpPr>
        <p:spPr>
          <a:xfrm flipH="false" flipV="false" rot="0">
            <a:off x="5192601" y="1173532"/>
            <a:ext cx="828155" cy="828155"/>
          </a:xfrm>
          <a:custGeom>
            <a:avLst/>
            <a:gdLst/>
            <a:ahLst/>
            <a:cxnLst/>
            <a:rect r="r" b="b" t="t" l="l"/>
            <a:pathLst>
              <a:path h="828155" w="828155">
                <a:moveTo>
                  <a:pt x="0" y="0"/>
                </a:moveTo>
                <a:lnTo>
                  <a:pt x="828155" y="0"/>
                </a:lnTo>
                <a:lnTo>
                  <a:pt x="828155" y="828155"/>
                </a:lnTo>
                <a:lnTo>
                  <a:pt x="0" y="828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247430" y="2001687"/>
            <a:ext cx="828155" cy="828155"/>
          </a:xfrm>
          <a:custGeom>
            <a:avLst/>
            <a:gdLst/>
            <a:ahLst/>
            <a:cxnLst/>
            <a:rect r="r" b="b" t="t" l="l"/>
            <a:pathLst>
              <a:path h="828155" w="828155">
                <a:moveTo>
                  <a:pt x="0" y="0"/>
                </a:moveTo>
                <a:lnTo>
                  <a:pt x="828155" y="0"/>
                </a:lnTo>
                <a:lnTo>
                  <a:pt x="828155" y="828155"/>
                </a:lnTo>
                <a:lnTo>
                  <a:pt x="0" y="828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419275" y="2670844"/>
            <a:ext cx="828155" cy="828155"/>
          </a:xfrm>
          <a:custGeom>
            <a:avLst/>
            <a:gdLst/>
            <a:ahLst/>
            <a:cxnLst/>
            <a:rect r="r" b="b" t="t" l="l"/>
            <a:pathLst>
              <a:path h="828155" w="828155">
                <a:moveTo>
                  <a:pt x="0" y="0"/>
                </a:moveTo>
                <a:lnTo>
                  <a:pt x="828155" y="0"/>
                </a:lnTo>
                <a:lnTo>
                  <a:pt x="828155" y="828154"/>
                </a:lnTo>
                <a:lnTo>
                  <a:pt x="0" y="828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247430" y="3408021"/>
            <a:ext cx="828155" cy="828155"/>
          </a:xfrm>
          <a:custGeom>
            <a:avLst/>
            <a:gdLst/>
            <a:ahLst/>
            <a:cxnLst/>
            <a:rect r="r" b="b" t="t" l="l"/>
            <a:pathLst>
              <a:path h="828155" w="828155">
                <a:moveTo>
                  <a:pt x="0" y="0"/>
                </a:moveTo>
                <a:lnTo>
                  <a:pt x="828155" y="0"/>
                </a:lnTo>
                <a:lnTo>
                  <a:pt x="828155" y="828154"/>
                </a:lnTo>
                <a:lnTo>
                  <a:pt x="0" y="828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247430" y="4104479"/>
            <a:ext cx="828155" cy="828155"/>
          </a:xfrm>
          <a:custGeom>
            <a:avLst/>
            <a:gdLst/>
            <a:ahLst/>
            <a:cxnLst/>
            <a:rect r="r" b="b" t="t" l="l"/>
            <a:pathLst>
              <a:path h="828155" w="828155">
                <a:moveTo>
                  <a:pt x="0" y="0"/>
                </a:moveTo>
                <a:lnTo>
                  <a:pt x="828155" y="0"/>
                </a:lnTo>
                <a:lnTo>
                  <a:pt x="828155" y="828154"/>
                </a:lnTo>
                <a:lnTo>
                  <a:pt x="0" y="828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247430" y="4932633"/>
            <a:ext cx="828155" cy="828155"/>
          </a:xfrm>
          <a:custGeom>
            <a:avLst/>
            <a:gdLst/>
            <a:ahLst/>
            <a:cxnLst/>
            <a:rect r="r" b="b" t="t" l="l"/>
            <a:pathLst>
              <a:path h="828155" w="828155">
                <a:moveTo>
                  <a:pt x="0" y="0"/>
                </a:moveTo>
                <a:lnTo>
                  <a:pt x="828155" y="0"/>
                </a:lnTo>
                <a:lnTo>
                  <a:pt x="828155" y="828155"/>
                </a:lnTo>
                <a:lnTo>
                  <a:pt x="0" y="828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884729" y="5513658"/>
            <a:ext cx="828155" cy="828155"/>
          </a:xfrm>
          <a:custGeom>
            <a:avLst/>
            <a:gdLst/>
            <a:ahLst/>
            <a:cxnLst/>
            <a:rect r="r" b="b" t="t" l="l"/>
            <a:pathLst>
              <a:path h="828155" w="828155">
                <a:moveTo>
                  <a:pt x="0" y="0"/>
                </a:moveTo>
                <a:lnTo>
                  <a:pt x="828154" y="0"/>
                </a:lnTo>
                <a:lnTo>
                  <a:pt x="828154" y="828155"/>
                </a:lnTo>
                <a:lnTo>
                  <a:pt x="0" y="828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AutoShape 2" id="2"/>
          <p:cNvSpPr/>
          <p:nvPr/>
        </p:nvSpPr>
        <p:spPr>
          <a:xfrm flipV="true">
            <a:off x="9144000" y="1897380"/>
            <a:ext cx="0" cy="6492240"/>
          </a:xfrm>
          <a:prstGeom prst="line">
            <a:avLst/>
          </a:prstGeom>
          <a:ln cap="flat" w="38100">
            <a:solidFill>
              <a:srgbClr val="FFFFFF"/>
            </a:solidFill>
            <a:prstDash val="solid"/>
            <a:headEnd type="none" len="sm" w="sm"/>
            <a:tailEnd type="none" len="sm" w="sm"/>
          </a:ln>
        </p:spPr>
      </p:sp>
      <p:sp>
        <p:nvSpPr>
          <p:cNvPr name="TextBox 3" id="3"/>
          <p:cNvSpPr txBox="true"/>
          <p:nvPr/>
        </p:nvSpPr>
        <p:spPr>
          <a:xfrm rot="0">
            <a:off x="3673410" y="1124395"/>
            <a:ext cx="1220629" cy="697936"/>
          </a:xfrm>
          <a:prstGeom prst="rect">
            <a:avLst/>
          </a:prstGeom>
        </p:spPr>
        <p:txBody>
          <a:bodyPr anchor="t" rtlCol="false" tIns="0" lIns="0" bIns="0" rIns="0">
            <a:spAutoFit/>
          </a:bodyPr>
          <a:lstStyle/>
          <a:p>
            <a:pPr algn="ctr">
              <a:lnSpc>
                <a:spcPts val="5582"/>
              </a:lnSpc>
              <a:spcBef>
                <a:spcPct val="0"/>
              </a:spcBef>
            </a:pPr>
            <a:r>
              <a:rPr lang="en-US" b="true" sz="4294">
                <a:solidFill>
                  <a:srgbClr val="FFFFFF"/>
                </a:solidFill>
                <a:latin typeface="Halant Medium"/>
                <a:ea typeface="Halant Medium"/>
                <a:cs typeface="Halant Medium"/>
                <a:sym typeface="Halant Medium"/>
              </a:rPr>
              <a:t>PINN</a:t>
            </a:r>
          </a:p>
        </p:txBody>
      </p:sp>
      <p:sp>
        <p:nvSpPr>
          <p:cNvPr name="TextBox 4" id="4"/>
          <p:cNvSpPr txBox="true"/>
          <p:nvPr/>
        </p:nvSpPr>
        <p:spPr>
          <a:xfrm rot="0">
            <a:off x="12877324" y="1199444"/>
            <a:ext cx="2250281" cy="697936"/>
          </a:xfrm>
          <a:prstGeom prst="rect">
            <a:avLst/>
          </a:prstGeom>
        </p:spPr>
        <p:txBody>
          <a:bodyPr anchor="t" rtlCol="false" tIns="0" lIns="0" bIns="0" rIns="0">
            <a:spAutoFit/>
          </a:bodyPr>
          <a:lstStyle/>
          <a:p>
            <a:pPr algn="ctr">
              <a:lnSpc>
                <a:spcPts val="5582"/>
              </a:lnSpc>
              <a:spcBef>
                <a:spcPct val="0"/>
              </a:spcBef>
            </a:pPr>
            <a:r>
              <a:rPr lang="en-US" b="true" sz="4294">
                <a:solidFill>
                  <a:srgbClr val="FFFFFF"/>
                </a:solidFill>
                <a:latin typeface="Halant Medium"/>
                <a:ea typeface="Halant Medium"/>
                <a:cs typeface="Halant Medium"/>
                <a:sym typeface="Halant Medium"/>
              </a:rPr>
              <a:t>Soft Body</a:t>
            </a:r>
          </a:p>
        </p:txBody>
      </p:sp>
      <p:sp>
        <p:nvSpPr>
          <p:cNvPr name="TextBox 5" id="5"/>
          <p:cNvSpPr txBox="true"/>
          <p:nvPr/>
        </p:nvSpPr>
        <p:spPr>
          <a:xfrm rot="0">
            <a:off x="1262666" y="1859280"/>
            <a:ext cx="6477390" cy="5450394"/>
          </a:xfrm>
          <a:prstGeom prst="rect">
            <a:avLst/>
          </a:prstGeom>
        </p:spPr>
        <p:txBody>
          <a:bodyPr anchor="t" rtlCol="false" tIns="0" lIns="0" bIns="0" rIns="0">
            <a:spAutoFit/>
          </a:bodyPr>
          <a:lstStyle/>
          <a:p>
            <a:pPr algn="ctr">
              <a:lnSpc>
                <a:spcPts val="3901"/>
              </a:lnSpc>
            </a:pPr>
            <a:r>
              <a:rPr lang="en-US" sz="3001">
                <a:solidFill>
                  <a:srgbClr val="FFFFFF"/>
                </a:solidFill>
                <a:latin typeface="Halant"/>
                <a:ea typeface="Halant"/>
                <a:cs typeface="Halant"/>
                <a:sym typeface="Halant"/>
              </a:rPr>
              <a:t>Le PINN sono una modalità di allenamento delle reti neurali che si basa sulla minimizzazione di un residuo dovuto alla PDE costituente il problema</a:t>
            </a:r>
          </a:p>
          <a:p>
            <a:pPr algn="ctr">
              <a:lnSpc>
                <a:spcPts val="3901"/>
              </a:lnSpc>
            </a:pPr>
            <a:r>
              <a:rPr lang="en-US" sz="3001">
                <a:solidFill>
                  <a:srgbClr val="FFFFFF"/>
                </a:solidFill>
                <a:latin typeface="Halant"/>
                <a:ea typeface="Halant"/>
                <a:cs typeface="Halant"/>
                <a:sym typeface="Halant"/>
              </a:rPr>
              <a:t>(e.g. ∇</a:t>
            </a:r>
            <a:r>
              <a:rPr lang="en-US" sz="3001">
                <a:solidFill>
                  <a:srgbClr val="FFFFFF"/>
                </a:solidFill>
                <a:latin typeface="Halant"/>
                <a:ea typeface="Halant"/>
                <a:cs typeface="Halant"/>
                <a:sym typeface="Halant"/>
              </a:rPr>
              <a:t>•</a:t>
            </a:r>
            <a:r>
              <a:rPr lang="en-US" sz="3001">
                <a:solidFill>
                  <a:srgbClr val="FFFFFF"/>
                </a:solidFill>
                <a:latin typeface="Halant"/>
                <a:ea typeface="Halant"/>
                <a:cs typeface="Halant"/>
                <a:sym typeface="Halant"/>
              </a:rPr>
              <a:t>P + b = 0)</a:t>
            </a:r>
          </a:p>
          <a:p>
            <a:pPr algn="ctr">
              <a:lnSpc>
                <a:spcPts val="3901"/>
              </a:lnSpc>
              <a:spcBef>
                <a:spcPct val="0"/>
              </a:spcBef>
            </a:pPr>
            <a:r>
              <a:rPr lang="en-US" sz="3001">
                <a:solidFill>
                  <a:srgbClr val="FFFFFF"/>
                </a:solidFill>
                <a:latin typeface="Halant"/>
                <a:ea typeface="Halant"/>
                <a:cs typeface="Halant"/>
                <a:sym typeface="Halant"/>
              </a:rPr>
              <a:t>Questo permette di approssimare vari probelmi rispettando la fisica che li forma in una modalità continua che rimuove gli errori di approssimazione e di bordo dovuti alle mesh nei metodi FEM</a:t>
            </a:r>
          </a:p>
        </p:txBody>
      </p:sp>
      <p:sp>
        <p:nvSpPr>
          <p:cNvPr name="Freeform 6" id="6"/>
          <p:cNvSpPr/>
          <p:nvPr/>
        </p:nvSpPr>
        <p:spPr>
          <a:xfrm flipH="false" flipV="false" rot="-1636790">
            <a:off x="8829949" y="3439940"/>
            <a:ext cx="9132465" cy="4429245"/>
          </a:xfrm>
          <a:custGeom>
            <a:avLst/>
            <a:gdLst/>
            <a:ahLst/>
            <a:cxnLst/>
            <a:rect r="r" b="b" t="t" l="l"/>
            <a:pathLst>
              <a:path h="4429245" w="9132465">
                <a:moveTo>
                  <a:pt x="0" y="0"/>
                </a:moveTo>
                <a:lnTo>
                  <a:pt x="9132465" y="0"/>
                </a:lnTo>
                <a:lnTo>
                  <a:pt x="9132465" y="4429246"/>
                </a:lnTo>
                <a:lnTo>
                  <a:pt x="0" y="44292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1377030" y="2468211"/>
            <a:ext cx="4484013" cy="697936"/>
          </a:xfrm>
          <a:prstGeom prst="rect">
            <a:avLst/>
          </a:prstGeom>
        </p:spPr>
        <p:txBody>
          <a:bodyPr anchor="t" rtlCol="false" tIns="0" lIns="0" bIns="0" rIns="0">
            <a:spAutoFit/>
          </a:bodyPr>
          <a:lstStyle/>
          <a:p>
            <a:pPr algn="ctr">
              <a:lnSpc>
                <a:spcPts val="5582"/>
              </a:lnSpc>
              <a:spcBef>
                <a:spcPct val="0"/>
              </a:spcBef>
            </a:pPr>
            <a:r>
              <a:rPr lang="en-US" b="true" sz="4294">
                <a:solidFill>
                  <a:srgbClr val="FFFFFF"/>
                </a:solidFill>
                <a:latin typeface="Halant Medium"/>
                <a:ea typeface="Halant Medium"/>
                <a:cs typeface="Halant Medium"/>
                <a:sym typeface="Halant Medium"/>
              </a:rPr>
              <a:t>Testo del paragrafo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3562606">
            <a:off x="-6521675" y="5343730"/>
            <a:ext cx="11196923" cy="9283267"/>
          </a:xfrm>
          <a:custGeom>
            <a:avLst/>
            <a:gdLst/>
            <a:ahLst/>
            <a:cxnLst/>
            <a:rect r="r" b="b" t="t" l="l"/>
            <a:pathLst>
              <a:path h="9283267" w="11196923">
                <a:moveTo>
                  <a:pt x="0" y="0"/>
                </a:moveTo>
                <a:lnTo>
                  <a:pt x="11196923" y="0"/>
                </a:lnTo>
                <a:lnTo>
                  <a:pt x="11196923" y="9283267"/>
                </a:lnTo>
                <a:lnTo>
                  <a:pt x="0" y="9283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942187" y="-3623001"/>
            <a:ext cx="11213180" cy="11500697"/>
          </a:xfrm>
          <a:custGeom>
            <a:avLst/>
            <a:gdLst/>
            <a:ahLst/>
            <a:cxnLst/>
            <a:rect r="r" b="b" t="t" l="l"/>
            <a:pathLst>
              <a:path h="11500697" w="11213180">
                <a:moveTo>
                  <a:pt x="0" y="0"/>
                </a:moveTo>
                <a:lnTo>
                  <a:pt x="11213180" y="0"/>
                </a:lnTo>
                <a:lnTo>
                  <a:pt x="11213180" y="11500697"/>
                </a:lnTo>
                <a:lnTo>
                  <a:pt x="0" y="11500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99470" y="2803285"/>
            <a:ext cx="8934485" cy="1154356"/>
          </a:xfrm>
          <a:prstGeom prst="rect">
            <a:avLst/>
          </a:prstGeom>
        </p:spPr>
        <p:txBody>
          <a:bodyPr anchor="t" rtlCol="false" tIns="0" lIns="0" bIns="0" rIns="0">
            <a:spAutoFit/>
          </a:bodyPr>
          <a:lstStyle/>
          <a:p>
            <a:pPr algn="l">
              <a:lnSpc>
                <a:spcPts val="9018"/>
              </a:lnSpc>
            </a:pPr>
            <a:r>
              <a:rPr lang="en-US" sz="7642" b="true">
                <a:solidFill>
                  <a:srgbClr val="FFFFFF"/>
                </a:solidFill>
                <a:latin typeface="HK Grotesk Bold"/>
                <a:ea typeface="HK Grotesk Bold"/>
                <a:cs typeface="HK Grotesk Bold"/>
                <a:sym typeface="HK Grotesk Bold"/>
              </a:rPr>
              <a:t>Formule Paper</a:t>
            </a:r>
          </a:p>
        </p:txBody>
      </p:sp>
      <p:sp>
        <p:nvSpPr>
          <p:cNvPr name="TextBox 5" id="5"/>
          <p:cNvSpPr txBox="true"/>
          <p:nvPr/>
        </p:nvSpPr>
        <p:spPr>
          <a:xfrm rot="0">
            <a:off x="799470" y="905469"/>
            <a:ext cx="1885905" cy="1002000"/>
          </a:xfrm>
          <a:prstGeom prst="rect">
            <a:avLst/>
          </a:prstGeom>
        </p:spPr>
        <p:txBody>
          <a:bodyPr anchor="t" rtlCol="false" tIns="0" lIns="0" bIns="0" rIns="0">
            <a:spAutoFit/>
          </a:bodyPr>
          <a:lstStyle/>
          <a:p>
            <a:pPr algn="l" marL="0" indent="0" lvl="0">
              <a:lnSpc>
                <a:spcPts val="7910"/>
              </a:lnSpc>
              <a:spcBef>
                <a:spcPct val="0"/>
              </a:spcBef>
            </a:pPr>
            <a:r>
              <a:rPr lang="en-US" b="true" sz="6703" u="none">
                <a:solidFill>
                  <a:srgbClr val="FFFFFF">
                    <a:alpha val="60000"/>
                  </a:srgbClr>
                </a:solidFill>
                <a:latin typeface="HK Grotesk Bold"/>
                <a:ea typeface="HK Grotesk Bold"/>
                <a:cs typeface="HK Grotesk Bold"/>
                <a:sym typeface="HK Grotesk Bold"/>
              </a:rPr>
              <a:t>02</a:t>
            </a:r>
          </a:p>
        </p:txBody>
      </p:sp>
      <p:sp>
        <p:nvSpPr>
          <p:cNvPr name="TextBox 6" id="6"/>
          <p:cNvSpPr txBox="true"/>
          <p:nvPr/>
        </p:nvSpPr>
        <p:spPr>
          <a:xfrm rot="0">
            <a:off x="3490186" y="4225319"/>
            <a:ext cx="5653814" cy="381236"/>
          </a:xfrm>
          <a:prstGeom prst="rect">
            <a:avLst/>
          </a:prstGeom>
        </p:spPr>
        <p:txBody>
          <a:bodyPr anchor="t" rtlCol="false" tIns="0" lIns="0" bIns="0" rIns="0">
            <a:spAutoFit/>
          </a:bodyPr>
          <a:lstStyle/>
          <a:p>
            <a:pPr algn="l">
              <a:lnSpc>
                <a:spcPts val="3136"/>
              </a:lnSpc>
              <a:spcBef>
                <a:spcPct val="0"/>
              </a:spcBef>
            </a:pPr>
            <a:r>
              <a:rPr lang="en-US" sz="2240" spc="-22">
                <a:solidFill>
                  <a:srgbClr val="FFFFFF"/>
                </a:solidFill>
                <a:latin typeface="Assistant"/>
                <a:ea typeface="Assistant"/>
                <a:cs typeface="Assistant"/>
                <a:sym typeface="Assistant"/>
              </a:rPr>
              <a: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10396105">
            <a:off x="11469507" y="-3355796"/>
            <a:ext cx="9461780" cy="11487813"/>
          </a:xfrm>
          <a:custGeom>
            <a:avLst/>
            <a:gdLst/>
            <a:ahLst/>
            <a:cxnLst/>
            <a:rect r="r" b="b" t="t" l="l"/>
            <a:pathLst>
              <a:path h="11487813" w="9461780">
                <a:moveTo>
                  <a:pt x="0" y="0"/>
                </a:moveTo>
                <a:lnTo>
                  <a:pt x="9461780" y="0"/>
                </a:lnTo>
                <a:lnTo>
                  <a:pt x="9461780" y="11487813"/>
                </a:lnTo>
                <a:lnTo>
                  <a:pt x="0" y="11487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932942"/>
            <a:ext cx="8934485" cy="6325358"/>
            <a:chOff x="0" y="0"/>
            <a:chExt cx="11912647" cy="8433811"/>
          </a:xfrm>
        </p:grpSpPr>
        <p:sp>
          <p:nvSpPr>
            <p:cNvPr name="TextBox 4" id="4"/>
            <p:cNvSpPr txBox="true"/>
            <p:nvPr/>
          </p:nvSpPr>
          <p:spPr>
            <a:xfrm rot="0">
              <a:off x="0" y="2250786"/>
              <a:ext cx="11912647" cy="3052400"/>
            </a:xfrm>
            <a:prstGeom prst="rect">
              <a:avLst/>
            </a:prstGeom>
          </p:spPr>
          <p:txBody>
            <a:bodyPr anchor="t" rtlCol="false" tIns="0" lIns="0" bIns="0" rIns="0">
              <a:spAutoFit/>
            </a:bodyPr>
            <a:lstStyle/>
            <a:p>
              <a:pPr algn="l">
                <a:lnSpc>
                  <a:spcPts val="9018"/>
                </a:lnSpc>
              </a:pPr>
              <a:r>
                <a:rPr lang="en-US" sz="7642" b="true">
                  <a:solidFill>
                    <a:srgbClr val="FFFFFF"/>
                  </a:solidFill>
                  <a:latin typeface="HK Grotesk Bold"/>
                  <a:ea typeface="HK Grotesk Bold"/>
                  <a:cs typeface="HK Grotesk Bold"/>
                  <a:sym typeface="HK Grotesk Bold"/>
                </a:rPr>
                <a:t>Whole Brain Emulation</a:t>
              </a:r>
            </a:p>
          </p:txBody>
        </p:sp>
        <p:sp>
          <p:nvSpPr>
            <p:cNvPr name="TextBox 5" id="5"/>
            <p:cNvSpPr txBox="true"/>
            <p:nvPr/>
          </p:nvSpPr>
          <p:spPr>
            <a:xfrm rot="0">
              <a:off x="0" y="39581"/>
              <a:ext cx="2514541" cy="1339175"/>
            </a:xfrm>
            <a:prstGeom prst="rect">
              <a:avLst/>
            </a:prstGeom>
          </p:spPr>
          <p:txBody>
            <a:bodyPr anchor="t" rtlCol="false" tIns="0" lIns="0" bIns="0" rIns="0">
              <a:spAutoFit/>
            </a:bodyPr>
            <a:lstStyle/>
            <a:p>
              <a:pPr algn="l" marL="0" indent="0" lvl="0">
                <a:lnSpc>
                  <a:spcPts val="7910"/>
                </a:lnSpc>
                <a:spcBef>
                  <a:spcPct val="0"/>
                </a:spcBef>
              </a:pPr>
              <a:r>
                <a:rPr lang="en-US" b="true" sz="6703">
                  <a:solidFill>
                    <a:srgbClr val="FFFFFF">
                      <a:alpha val="60000"/>
                    </a:srgbClr>
                  </a:solidFill>
                  <a:latin typeface="HK Grotesk Bold"/>
                  <a:ea typeface="HK Grotesk Bold"/>
                  <a:cs typeface="HK Grotesk Bold"/>
                  <a:sym typeface="HK Grotesk Bold"/>
                </a:rPr>
                <a:t>03</a:t>
              </a:r>
            </a:p>
          </p:txBody>
        </p:sp>
        <p:sp>
          <p:nvSpPr>
            <p:cNvPr name="TextBox 6" id="6"/>
            <p:cNvSpPr txBox="true"/>
            <p:nvPr/>
          </p:nvSpPr>
          <p:spPr>
            <a:xfrm rot="0">
              <a:off x="0" y="6079594"/>
              <a:ext cx="7538418" cy="2354217"/>
            </a:xfrm>
            <a:prstGeom prst="rect">
              <a:avLst/>
            </a:prstGeom>
          </p:spPr>
          <p:txBody>
            <a:bodyPr anchor="t" rtlCol="false" tIns="0" lIns="0" bIns="0" rIns="0">
              <a:spAutoFit/>
            </a:bodyPr>
            <a:lstStyle/>
            <a:p>
              <a:pPr algn="l">
                <a:lnSpc>
                  <a:spcPts val="2856"/>
                </a:lnSpc>
                <a:spcBef>
                  <a:spcPct val="0"/>
                </a:spcBef>
              </a:pPr>
              <a:r>
                <a:rPr lang="en-US" sz="2040" spc="-20">
                  <a:solidFill>
                    <a:srgbClr val="FFFFFF"/>
                  </a:solidFill>
                  <a:latin typeface="Assistant"/>
                  <a:ea typeface="Assistant"/>
                  <a:cs typeface="Assistant"/>
                  <a:sym typeface="Assistant"/>
                </a:rPr>
                <a:t>Presentations are communication tools that can be used as demonstrations, lectures, speeches, reports, and more. It is mostly presented before an audience. It serves a variety of purposes, making presentations powerful tools for convincing and teaching.</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DAHUP_SR594</dc:identifier>
  <dcterms:modified xsi:type="dcterms:W3CDTF">2011-08-01T06:04:30Z</dcterms:modified>
  <cp:revision>1</cp:revision>
  <dc:title>“Il cibo caduto a terra è buono se preso prima dei 5 sec”</dc:title>
</cp:coreProperties>
</file>